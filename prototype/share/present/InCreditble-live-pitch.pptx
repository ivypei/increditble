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cdfe1d5c65bc4606" /><Relationship Type="http://schemas.openxmlformats.org/officeDocument/2006/relationships/extended-properties" Target="/docProps/app.xml" Id="R433aace6d9474667" /><Relationship Type="http://schemas.openxmlformats.org/officeDocument/2006/relationships/officeDocument" Target="/ppt/presentation.xml" Id="Rd377929cb5344cdf" /></Relationships>
</file>

<file path=ppt/presentation.xml><?xml version="1.0" encoding="utf-8"?>
<p:presentation xmlns:p="http://schemas.openxmlformats.org/presentationml/2006/main">
  <p:sldMasterIdLst>
    <p:sldMasterId xmlns:r="http://schemas.openxmlformats.org/officeDocument/2006/relationships" id="2147483648" r:id="Rf73cd74e6edb4d5f"/>
  </p:sldMasterIdLst>
  <p:notesMasterIdLst>
    <p:notesMasterId xmlns:r="http://schemas.openxmlformats.org/officeDocument/2006/relationships" r:id="R7048d3842ac94513"/>
  </p:notesMasterIdLst>
  <p:sldIdLst>
    <p:sldId xmlns:r="http://schemas.openxmlformats.org/officeDocument/2006/relationships" id="256" r:id="R1ade389b57c14c24"/>
    <p:sldId xmlns:r="http://schemas.openxmlformats.org/officeDocument/2006/relationships" id="257" r:id="R92d8e2f459574e2a"/>
    <p:sldId xmlns:r="http://schemas.openxmlformats.org/officeDocument/2006/relationships" id="258" r:id="R6ce311bce3774e78"/>
    <p:sldId xmlns:r="http://schemas.openxmlformats.org/officeDocument/2006/relationships" id="259" r:id="R21a55d5443974c00"/>
    <p:sldId xmlns:r="http://schemas.openxmlformats.org/officeDocument/2006/relationships" id="260" r:id="R2236638a65fd4d2f"/>
    <p:sldId xmlns:r="http://schemas.openxmlformats.org/officeDocument/2006/relationships" id="261" r:id="Rc870a4e0fb1f48de"/>
    <p:sldId xmlns:r="http://schemas.openxmlformats.org/officeDocument/2006/relationships" id="262" r:id="R634e397a47f54947"/>
    <p:sldId xmlns:r="http://schemas.openxmlformats.org/officeDocument/2006/relationships" id="263" r:id="R2b156605a7a54fa0"/>
    <p:sldId xmlns:r="http://schemas.openxmlformats.org/officeDocument/2006/relationships" id="264" r:id="R6e3a6185dd294ad0"/>
    <p:sldId xmlns:r="http://schemas.openxmlformats.org/officeDocument/2006/relationships" id="265" r:id="R6a7b5d827a034f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0a9d6e299843a1" /><Relationship Type="http://schemas.openxmlformats.org/officeDocument/2006/relationships/slideMaster" Target="/ppt/slideMasters/slideMaster1.xml" Id="Rf73cd74e6edb4d5f" /><Relationship Type="http://schemas.openxmlformats.org/officeDocument/2006/relationships/notesMaster" Target="/ppt/notesMasters/notesMaster1.xml" Id="R7048d3842ac94513" /><Relationship Type="http://schemas.openxmlformats.org/officeDocument/2006/relationships/presProps" Target="/ppt/presProps.xml" Id="Reb05ad3d703c4464" /><Relationship Type="http://schemas.openxmlformats.org/officeDocument/2006/relationships/tableStyles" Target="/ppt/tableStyles.xml" Id="R2eb284570fc14bec" /><Relationship Type="http://schemas.openxmlformats.org/officeDocument/2006/relationships/slide" Target="/ppt/slides/slide1.xml" Id="R1ade389b57c14c24" /><Relationship Type="http://schemas.openxmlformats.org/officeDocument/2006/relationships/slide" Target="/ppt/slides/slide2.xml" Id="R92d8e2f459574e2a" /><Relationship Type="http://schemas.openxmlformats.org/officeDocument/2006/relationships/slide" Target="/ppt/slides/slide3.xml" Id="R6ce311bce3774e78" /><Relationship Type="http://schemas.openxmlformats.org/officeDocument/2006/relationships/slide" Target="/ppt/slides/slide4.xml" Id="R21a55d5443974c00" /><Relationship Type="http://schemas.openxmlformats.org/officeDocument/2006/relationships/slide" Target="/ppt/slides/slide5.xml" Id="R2236638a65fd4d2f" /><Relationship Type="http://schemas.openxmlformats.org/officeDocument/2006/relationships/slide" Target="/ppt/slides/slide6.xml" Id="Rc870a4e0fb1f48de" /><Relationship Type="http://schemas.openxmlformats.org/officeDocument/2006/relationships/slide" Target="/ppt/slides/slide7.xml" Id="R634e397a47f54947" /><Relationship Type="http://schemas.openxmlformats.org/officeDocument/2006/relationships/slide" Target="/ppt/slides/slide8.xml" Id="R2b156605a7a54fa0" /><Relationship Type="http://schemas.openxmlformats.org/officeDocument/2006/relationships/slide" Target="/ppt/slides/slide9.xml" Id="R6e3a6185dd294ad0" /><Relationship Type="http://schemas.openxmlformats.org/officeDocument/2006/relationships/slide" Target="/ppt/slides/slide10.xml" Id="R6a7b5d827a034f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22921c0ee849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c2bfc5ea254663" /><Relationship Type="http://schemas.openxmlformats.org/officeDocument/2006/relationships/notesMaster" Target="/ppt/notesMasters/notesMaster1.xml" Id="Ra045d48a1c0543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c0124173f944a2" /><Relationship Type="http://schemas.openxmlformats.org/officeDocument/2006/relationships/notesMaster" Target="/ppt/notesMasters/notesMaster1.xml" Id="R08cf6153ff3247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f37f1978154289" /><Relationship Type="http://schemas.openxmlformats.org/officeDocument/2006/relationships/notesMaster" Target="/ppt/notesMasters/notesMaster1.xml" Id="Rd266c6d37ec64f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306454e1494e2c" /><Relationship Type="http://schemas.openxmlformats.org/officeDocument/2006/relationships/notesMaster" Target="/ppt/notesMasters/notesMaster1.xml" Id="Rf8321415592345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fb6551f7484cc3" /><Relationship Type="http://schemas.openxmlformats.org/officeDocument/2006/relationships/notesMaster" Target="/ppt/notesMasters/notesMaster1.xml" Id="Rd9198022338445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be5fc290d94168" /><Relationship Type="http://schemas.openxmlformats.org/officeDocument/2006/relationships/notesMaster" Target="/ppt/notesMasters/notesMaster1.xml" Id="R13f6e220192f4f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a8ed66b25f43dc" /><Relationship Type="http://schemas.openxmlformats.org/officeDocument/2006/relationships/notesMaster" Target="/ppt/notesMasters/notesMaster1.xml" Id="R611240152eff4b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7c8b501cf64e1c" /><Relationship Type="http://schemas.openxmlformats.org/officeDocument/2006/relationships/notesMaster" Target="/ppt/notesMasters/notesMaster1.xml" Id="R9d468168c2454d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328c3fe6e94881" /><Relationship Type="http://schemas.openxmlformats.org/officeDocument/2006/relationships/notesMaster" Target="/ppt/notesMasters/notesMaster1.xml" Id="R5118ea1e574d45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c4c0ee40c44e19" /><Relationship Type="http://schemas.openxmlformats.org/officeDocument/2006/relationships/notesMaster" Target="/ppt/notesMasters/notesMaster1.xml" Id="Rd01ea53537d240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5 seconds</a:t>
            </a:r>
          </a:p>
          <a:p xmlns:a="http://schemas.openxmlformats.org/drawingml/2006/main">
            <a:r>
              <a:t>InCreditble makes a first corporate-bond investment easier to understand.</a:t>
            </a:r>
          </a:p>
          <a:p xmlns:a="http://schemas.openxmlformats.org/drawingml/2006/main">
            <a:r>
              <a:t/>
            </a:r>
          </a:p>
          <a:p xmlns:a="http://schemas.openxmlformats.org/drawingml/2006/main">
            <a:r>
              <a:t>REFERENCE NOTES</a:t>
            </a:r>
          </a:p>
          <a:p xmlns:a="http://schemas.openxmlformats.org/drawingml/2006/main">
            <a:r>
              <a:t>TIMING: 10 seconds</a:t>
            </a:r>
          </a:p>
          <a:p xmlns:a="http://schemas.openxmlformats.org/drawingml/2006/main">
            <a:r>
              <a:t/>
            </a:r>
          </a:p>
          <a:p xmlns:a="http://schemas.openxmlformats.org/drawingml/2006/main">
            <a:r>
              <a:t>InCreditble helps first-time investors understand and buy corporate bonds, starting with a small amount. We are designing for people like our parents, who want a clear first step.</a:t>
            </a:r>
          </a:p>
          <a:p xmlns:a="http://schemas.openxmlformats.org/drawingml/2006/main">
            <a:r>
              <a:t/>
            </a:r>
          </a:p>
          <a:p xmlns:a="http://schemas.openxmlformats.org/drawingml/2006/main">
            <a:r>
              <a:t>SOURCES AND CONTEXT</a:t>
            </a:r>
          </a:p>
          <a:p xmlns:a="http://schemas.openxmlformats.org/drawingml/2006/main">
            <a:r>
              <a:t>Product positioning from founder and current prototype. All functionality shown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16 seconds</a:t>
            </a:r>
          </a:p>
          <a:p xmlns:a="http://schemas.openxmlformats.org/drawingml/2006/main">
            <a:r>
              <a:t>In more than ten customer conversations, people told us they wanted bonds but did not know where to start. Bond codes, unfamiliar platforms and minimum amounts made the first step feel difficult. Here is how we simplify it.</a:t>
            </a:r>
          </a:p>
          <a:p xmlns:a="http://schemas.openxmlformats.org/drawingml/2006/main">
            <a:r>
              <a:t/>
            </a:r>
          </a:p>
          <a:p xmlns:a="http://schemas.openxmlformats.org/drawingml/2006/main">
            <a:r>
              <a:t>REFERENCE NOTES</a:t>
            </a:r>
          </a:p>
          <a:p xmlns:a="http://schemas.openxmlformats.org/drawingml/2006/main">
            <a:r>
              <a:t>TIMING: 22 seconds</a:t>
            </a:r>
          </a:p>
          <a:p xmlns:a="http://schemas.openxmlformats.org/drawingml/2006/main">
            <a:r>
              <a:t/>
            </a:r>
          </a:p>
          <a:p xmlns:a="http://schemas.openxmlformats.org/drawingml/2006/main">
            <a:r>
              <a:t>Across more than ten customer discovery conversations, I heard frustration about finding bonds, not knowing where to begin, and wanting to invest only a small amount. These comments shaped our question: can a beginner understand a bond purchase without someone coaching them?</a:t>
            </a:r>
          </a:p>
          <a:p xmlns:a="http://schemas.openxmlformats.org/drawingml/2006/main">
            <a:r>
              <a:t/>
            </a:r>
          </a:p>
          <a:p xmlns:a="http://schemas.openxmlformats.org/drawingml/2006/main">
            <a:r>
              <a:t>SOURCES AND CONTEXT</a:t>
            </a:r>
          </a:p>
          <a:p xmlns:a="http://schemas.openxmlformats.org/drawingml/2006/main">
            <a:r>
              <a:t>10+ conversations: founder report in this chat, October 10, 2026. Quotes: founder-supplied customer comments, edited for clarity. No participant demographics, prevalence or conversion rates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68.0667 seconds</a:t>
            </a:r>
          </a:p>
          <a:p xmlns:a="http://schemas.openxmlformats.org/drawingml/2006/main">
            <a:r>
              <a:t>Click the video once. Let the 68-second product journey play. When it finishes, advance to Market. The standalone 2:25 demo remains available on the sharing page.</a:t>
            </a:r>
          </a:p>
          <a:p xmlns:a="http://schemas.openxmlformats.org/drawingml/2006/main">
            <a:r>
              <a:t/>
            </a:r>
          </a:p>
          <a:p xmlns:a="http://schemas.openxmlformats.org/drawingml/2006/main">
            <a:r>
              <a:t>REFERENCE NOTES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10 seconds</a:t>
            </a:r>
          </a:p>
          <a:p xmlns:a="http://schemas.openxmlformats.org/drawingml/2006/main">
            <a:r>
              <a:t>The U.S. corporate-bond market is over twelve trillion dollars. Our starting audience is adults new to individual bonds, including older investors.</a:t>
            </a:r>
          </a:p>
          <a:p xmlns:a="http://schemas.openxmlformats.org/drawingml/2006/main">
            <a:r>
              <a:t/>
            </a:r>
          </a:p>
          <a:p xmlns:a="http://schemas.openxmlformats.org/drawingml/2006/main">
            <a:r>
              <a:t>REFERENCE NOTES</a:t>
            </a:r>
          </a:p>
          <a:p xmlns:a="http://schemas.openxmlformats.org/drawingml/2006/main">
            <a:r>
              <a:t>TIMING: 18 seconds</a:t>
            </a:r>
          </a:p>
          <a:p xmlns:a="http://schemas.openxmlformats.org/drawingml/2006/main">
            <a:r>
              <a:t/>
            </a:r>
          </a:p>
          <a:p xmlns:a="http://schemas.openxmlformats.org/drawingml/2006/main">
            <a:r>
              <a:t>The U.S. corporate bond market has twelve point one trillion dollars outstanding. That is the underlying asset market, not our revenue opportunity. Our initial customer is a U.S. adult with savings who is new to individual bonds, especially an older investor seeking a simpler experience.</a:t>
            </a:r>
          </a:p>
          <a:p xmlns:a="http://schemas.openxmlformats.org/drawingml/2006/main">
            <a:r>
              <a:t/>
            </a:r>
          </a:p>
          <a:p xmlns:a="http://schemas.openxmlformats.org/drawingml/2006/main">
            <a:r>
              <a:t>SOURCES AND CONTEXT</a:t>
            </a:r>
          </a:p>
          <a:p xmlns:a="http://schemas.openxmlformats.org/drawingml/2006/main">
            <a:r>
              <a:t>SIFMA, US Corporate Bonds Statistics, published October 5, 2026: outstanding $12.1T as of 2Q26; $66.7B average daily trading volume, YTD through September 2026. https://www.sifma.org/research/statistics/us-corporate-bonds-statistics</a:t>
            </a:r>
          </a:p>
          <a:p xmlns:a="http://schemas.openxmlformats.org/drawingml/2006/main">
            <a:r>
              <a:t>Initial customer segment is a founder hypothesis. No serviceable market or revenue TAM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14 seconds</a:t>
            </a:r>
          </a:p>
          <a:p xmlns:a="http://schemas.openxmlformats.org/drawingml/2006/main">
            <a:r>
              <a:t>Existing platforms offer inventory, ETFs or managed portfolios. We are testing a different entry point: a small amount, three explained matches, and a decision the user understands.</a:t>
            </a:r>
          </a:p>
          <a:p xmlns:a="http://schemas.openxmlformats.org/drawingml/2006/main">
            <a:r>
              <a:t/>
            </a:r>
          </a:p>
          <a:p xmlns:a="http://schemas.openxmlformats.org/drawingml/2006/main">
            <a:r>
              <a:t>REFERENCE NOTES</a:t>
            </a:r>
          </a:p>
          <a:p xmlns:a="http://schemas.openxmlformats.org/drawingml/2006/main">
            <a:r>
              <a:t>TIMING: 20 seconds</a:t>
            </a:r>
          </a:p>
          <a:p xmlns:a="http://schemas.openxmlformats.org/drawingml/2006/main">
            <a:r>
              <a:t/>
            </a:r>
          </a:p>
          <a:p xmlns:a="http://schemas.openxmlformats.org/drawingml/2006/main">
            <a:r>
              <a:t>Fidelity supports filtered bond search. Robinhood offers bond exposure through ETFs, while Webull offers managed bond portfolios. Our focus is an explained path to an individual corporate bond. We are testing whether fewer choices and visible payment terms help beginners make a decision they understand.</a:t>
            </a:r>
          </a:p>
          <a:p xmlns:a="http://schemas.openxmlformats.org/drawingml/2006/main">
            <a:r>
              <a:t/>
            </a:r>
          </a:p>
          <a:p xmlns:a="http://schemas.openxmlformats.org/drawingml/2006/main">
            <a:r>
              <a:t>SOURCES AND CONTEXT</a:t>
            </a:r>
          </a:p>
          <a:p xmlns:a="http://schemas.openxmlformats.org/drawingml/2006/main">
            <a:r>
              <a:t/>
            </a:r>
          </a:p>
          <a:p xmlns:a="http://schemas.openxmlformats.org/drawingml/2006/main">
            <a:r>
              <a:t>Official sources checked October 10, 2026.</a:t>
            </a:r>
          </a:p>
          <a:p xmlns:a="http://schemas.openxmlformats.org/drawingml/2006/main">
            <a:r>
              <a:t>Fidelity: https://www.fidelity.com/webcontent/ap002390-mlo-content/20.04/help/learn_searching_fixed_income_inventory.shtml</a:t>
            </a:r>
          </a:p>
          <a:p xmlns:a="http://schemas.openxmlformats.org/drawingml/2006/main">
            <a:r>
              <a:t>Robinhood supported investments: https://robinhood.com/us/en/support/articles/investments-you-can-make-on-robinhood/</a:t>
            </a:r>
          </a:p>
          <a:p xmlns:a="http://schemas.openxmlformats.org/drawingml/2006/main">
            <a:r>
              <a:t>Robinhood fractional shares: https://robinhood.com/us/en/support/articles/fractional-shares/</a:t>
            </a:r>
          </a:p>
          <a:p xmlns:a="http://schemas.openxmlformats.org/drawingml/2006/main">
            <a:r>
              <a:t>Robinhood example bond ETF: https://robinhood.com/us/en/stocks/DFSD/</a:t>
            </a:r>
          </a:p>
          <a:p xmlns:a="http://schemas.openxmlformats.org/drawingml/2006/main">
            <a:r>
              <a:t>Webull managed corporate High Income portfolio: https://www.webull.com/help/faq/11139</a:t>
            </a:r>
          </a:p>
          <a:p xmlns:a="http://schemas.openxmlformats.org/drawingml/2006/main">
            <a:r>
              <a:t/>
            </a:r>
          </a:p>
          <a:p xmlns:a="http://schemas.openxmlformats.org/drawingml/2006/main">
            <a:r>
              <a:t>Robinhood is an adjacent retail investing alternative. The ETF-share minimum is not an individual bond minimum. Robinhood lists bonds and fixed-income trading as unsupported. Eligible stocks and ETFs support fractional orders from $1. Comparisons summarize documented workflows, not execution quality or absence of other competitor features. Webull also offers separate self-directed bonds. InCreditble $10 minimum is a prototype design, not a live brokerage offering.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20 seconds</a:t>
            </a:r>
          </a:p>
          <a:p xmlns:a="http://schemas.openxmlformats.org/drawingml/2006/main">
            <a:r>
              <a:t>The prototype filters by goals and risk limits, ranks a fictional bond pool, and explains the matches. Fractional orders show cost and expected payments before approval. Today, matching is deterministic and the assistant is scripted. Live data and execution come later.</a:t>
            </a:r>
          </a:p>
          <a:p xmlns:a="http://schemas.openxmlformats.org/drawingml/2006/main">
            <a:r>
              <a:t/>
            </a:r>
          </a:p>
          <a:p xmlns:a="http://schemas.openxmlformats.org/drawingml/2006/main">
            <a:r>
              <a:t>REFERENCE NOTES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15 seconds</a:t>
            </a:r>
          </a:p>
          <a:p xmlns:a="http://schemas.openxmlformats.org/drawingml/2006/main">
            <a:r>
              <a:t>Our evidence so far is discovery, not revenue: ten-plus conversations and a working prototype. Those conversations shaped the priorities: plain language, small starting amounts, payment visibility, and keeping existing accounts visible.</a:t>
            </a:r>
          </a:p>
          <a:p xmlns:a="http://schemas.openxmlformats.org/drawingml/2006/main">
            <a:r>
              <a:t/>
            </a:r>
          </a:p>
          <a:p xmlns:a="http://schemas.openxmlformats.org/drawingml/2006/main">
            <a:r>
              <a:t>REFERENCE NOTES</a:t>
            </a:r>
          </a:p>
          <a:p xmlns:a="http://schemas.openxmlformats.org/drawingml/2006/main">
            <a:r>
              <a:t>TIMING: 18 seconds</a:t>
            </a:r>
          </a:p>
          <a:p xmlns:a="http://schemas.openxmlformats.org/drawingml/2006/main">
            <a:r>
              <a:t/>
            </a:r>
          </a:p>
          <a:p xmlns:a="http://schemas.openxmlformats.org/drawingml/2006/main">
            <a:r>
              <a:t>Our progress is early but concrete: more than ten discovery conversations and a working prototype with a complete simulated transaction. Mentor feedback helped narrow the scope from wealth management to bond trading. We still need behavioral evidence of understanding, demand and willingness to pay.</a:t>
            </a:r>
          </a:p>
          <a:p xmlns:a="http://schemas.openxmlformats.org/drawingml/2006/main">
            <a:r>
              <a:t/>
            </a:r>
          </a:p>
          <a:p xmlns:a="http://schemas.openxmlformats.org/drawingml/2006/main">
            <a:r>
              <a:t>SOURCES AND CONTEXT</a:t>
            </a:r>
          </a:p>
          <a:p xmlns:a="http://schemas.openxmlformats.org/drawingml/2006/main">
            <a:r>
              <a:t>10+ customer discovery conversations: founder report, October 10, 2026. Prototype and mentor-directed iterations are visible in the local project and conversation. No paid users, revenue, funded accounts or waitlist count has been established in supplied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12 seconds</a:t>
            </a:r>
          </a:p>
          <a:p xmlns:a="http://schemas.openxmlformats.org/drawingml/2006/main">
            <a:r>
              <a:t>Next, we want ten beginners to test the flow without help. Can they explain the cost, payment timing and loss risk? We are seeking pilot participants and bond-infrastructure introductions.</a:t>
            </a:r>
          </a:p>
          <a:p xmlns:a="http://schemas.openxmlformats.org/drawingml/2006/main">
            <a:r>
              <a:t/>
            </a:r>
          </a:p>
          <a:p xmlns:a="http://schemas.openxmlformats.org/drawingml/2006/main">
            <a:r>
              <a:t>REFERENCE NOTES</a:t>
            </a:r>
          </a:p>
          <a:p xmlns:a="http://schemas.openxmlformats.org/drawingml/2006/main">
            <a:r>
              <a:t>TIMING: 22 seconds</a:t>
            </a:r>
          </a:p>
          <a:p xmlns:a="http://schemas.openxmlformats.org/drawingml/2006/main">
            <a:r>
              <a:t/>
            </a:r>
          </a:p>
          <a:p xmlns:a="http://schemas.openxmlformats.org/drawingml/2006/main">
            <a:r>
              <a:t>Next, we will run unassisted tests with ten first-time investors and check whether they can explain the cost, payment timing and loss risk. We will measure opt-in interest, test pricing, and explore brokerage partners for real execution. I am looking for pilot participants and introductions to bond infrastructure partners.</a:t>
            </a:r>
          </a:p>
          <a:p xmlns:a="http://schemas.openxmlformats.org/drawingml/2006/main">
            <a:r>
              <a:t/>
            </a:r>
          </a:p>
          <a:p xmlns:a="http://schemas.openxmlformats.org/drawingml/2006/main">
            <a:r>
              <a:t>SOURCES AND CONTEXT</a:t>
            </a:r>
          </a:p>
          <a:p xmlns:a="http://schemas.openxmlformats.org/drawingml/2006/main">
            <a:r>
              <a:t>Proposed next milestones, not completed traction: ten unassisted tests; demand and pricing research; execution, custody and fractional economics exploration. No partnership, launch approval or sustainable revenue model claimed. Read-only aggregation and standalone versus embedded distribution remain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8 seconds</a:t>
            </a:r>
          </a:p>
          <a:p xmlns:a="http://schemas.openxmlformats.org/drawingml/2006/main">
            <a:r>
              <a:t>Scan here to try it. We would love feedback on what feels clear and what still needs explaining.</a:t>
            </a:r>
          </a:p>
          <a:p xmlns:a="http://schemas.openxmlformats.org/drawingml/2006/main">
            <a:r>
              <a:t/>
            </a:r>
          </a:p>
          <a:p xmlns:a="http://schemas.openxmlformats.org/drawingml/2006/main">
            <a:r>
              <a:t>REFERENCE NOTES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PITCH · 5 seconds</a:t>
            </a:r>
          </a:p>
          <a:p xmlns:a="http://schemas.openxmlformats.org/drawingml/2006/main">
            <a:r>
              <a:t>I am Ivy, our CTO is Ren Jie, and special thanks to our mentor, Pink Pan. Thank you.</a:t>
            </a:r>
          </a:p>
          <a:p xmlns:a="http://schemas.openxmlformats.org/drawingml/2006/main">
            <a:r>
              <a:t/>
            </a:r>
          </a:p>
          <a:p xmlns:a="http://schemas.openxmlformats.org/drawingml/2006/main">
            <a:r>
              <a:t>REFERENCE NOTES</a:t>
            </a:r>
          </a:p>
          <a:p xmlns:a="http://schemas.openxmlformats.org/drawingml/2006/main">
            <a:r>
              <a:t>Contact our team on LinkedIn. Ivy Pei, Founder. Ren Jie T., CTO. Special thanks to Pink Pan, our mentor.</a:t>
            </a:r>
          </a:p>
          <a:p xmlns:a="http://schemas.openxmlformats.org/drawingml/2006/main">
            <a:r>
              <a:t/>
            </a:r>
          </a:p>
          <a:p xmlns:a="http://schemas.openxmlformats.org/drawingml/2006/main">
            <a:r>
              <a:t>Portraits supplied by the founder on October 10, 2026. Original photos retained; circular crops are native layout masks. Only team members have QR codes.</a:t>
            </a:r>
          </a:p>
          <a:p xmlns:a="http://schemas.openxmlformats.org/drawingml/2006/main">
            <a:r>
              <a:t>Founder: https://www.linkedin.com/in/ivypei/</a:t>
            </a:r>
          </a:p>
          <a:p xmlns:a="http://schemas.openxmlformats.org/drawingml/2006/main">
            <a:r>
              <a:t>CTO: https://www.linkedin.com/in/ren-jie-t-619a6b1aa/</a:t>
            </a:r>
          </a:p>
          <a:p xmlns:a="http://schemas.openxmlformats.org/drawingml/2006/main">
            <a:r>
              <a:t>Mentor: https://www.linkedin.com/in/t-h-p/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3c8ea8f20b4e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67a12ed17448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239a4a7ed647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407dd493ad4b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798e7b7fda4e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3debd4b66241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CEFA52-B5AB-47C3-BACA-CE5CEF50AB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A509B2-6D31-4D28-A2FD-8443AB583B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59E41E-74EA-4737-873D-F044BF9D41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85DADC-B95B-4DCB-9F36-AE13F36B5A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DC81EB-7D07-42F0-BAE9-840863E43D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879CEB-4C18-4C44-B61A-8BE42CE91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132DAF-9E79-4EBA-AB04-AB504E202E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A68D81-2B94-44C2-8DAB-4637DCBF43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FE8E10-72FF-409A-AD09-E63EAEF58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C2DA00-55AB-4DBE-AF35-4E53EC627B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3e4b5e80404d75" /><Relationship Type="http://schemas.openxmlformats.org/officeDocument/2006/relationships/slideLayout" Target="/ppt/slideLayouts/slideLayout1.xml" Id="Rb9b86d7fe056486d" /><Relationship Type="http://schemas.openxmlformats.org/officeDocument/2006/relationships/slideLayout" Target="/ppt/slideLayouts/slideLayout2.xml" Id="Ra740456ce2d04efd" /><Relationship Type="http://schemas.openxmlformats.org/officeDocument/2006/relationships/slideLayout" Target="/ppt/slideLayouts/slideLayout3.xml" Id="Rf4eea832efb1424c" /><Relationship Type="http://schemas.openxmlformats.org/officeDocument/2006/relationships/slideLayout" Target="/ppt/slideLayouts/slideLayout4.xml" Id="Rbaa78f3e1ebc48fe" /><Relationship Type="http://schemas.openxmlformats.org/officeDocument/2006/relationships/slideLayout" Target="/ppt/slideLayouts/slideLayout5.xml" Id="R19eff93e3ac7417c" /><Relationship Type="http://schemas.openxmlformats.org/officeDocument/2006/relationships/slideLayout" Target="/ppt/slideLayouts/slideLayout6.xml" Id="R897bef8f0bbb40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b86d7fe056486d"/>
    <p:sldLayoutId xmlns:r="http://schemas.openxmlformats.org/officeDocument/2006/relationships" id="2147483650" r:id="Ra740456ce2d04efd"/>
    <p:sldLayoutId xmlns:r="http://schemas.openxmlformats.org/officeDocument/2006/relationships" id="2147483651" r:id="Rf4eea832efb1424c"/>
    <p:sldLayoutId xmlns:r="http://schemas.openxmlformats.org/officeDocument/2006/relationships" id="2147483652" r:id="Rbaa78f3e1ebc48fe"/>
    <p:sldLayoutId xmlns:r="http://schemas.openxmlformats.org/officeDocument/2006/relationships" id="2147483653" r:id="R19eff93e3ac7417c"/>
    <p:sldLayoutId xmlns:r="http://schemas.openxmlformats.org/officeDocument/2006/relationships" id="2147483654" r:id="R897bef8f0bbb40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05e950333e4fb0" /><Relationship Type="http://schemas.openxmlformats.org/officeDocument/2006/relationships/image" Target="/ppt/media/image.png" Id="Rfefe87f5363647ac" /><Relationship Type="http://schemas.openxmlformats.org/officeDocument/2006/relationships/image" Target="/ppt/media/image2.png" Id="R8693019989e74f64" /><Relationship Type="http://schemas.openxmlformats.org/officeDocument/2006/relationships/notesSlide" Target="/ppt/notesSlides/notesSlide1.xml" Id="Rff97a7ed81b740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2d0007a15f4687" /><Relationship Type="http://schemas.openxmlformats.org/officeDocument/2006/relationships/notesSlide" Target="/ppt/notesSlides/notesSlide2.xml" Id="Rc02ed6c69cb04b68" /></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5dd614e9939a4ca0" /><ns0:Relationship Type="http://schemas.openxmlformats.org/officeDocument/2006/relationships/image" Target="/ppt/media/image3.png" Id="Rd14cc6d822eb41f9" /><ns0:Relationship Type="http://schemas.openxmlformats.org/officeDocument/2006/relationships/notesSlide" Target="/ppt/notesSlides/notesSlide3.xml" Id="Rc3f484f4334646d8" /><ns0:Relationship Id="stageVideo" Type="http://schemas.openxmlformats.org/officeDocument/2006/relationships/video" Target="../media/stage-demo.mp4" /><ns0:Relationship Id="stageMedia" Type="http://schemas.microsoft.com/office/2007/relationships/media" Target="../media/stage-demo.mp4" /></ns0: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e4786448dda4f08" /><Relationship Type="http://schemas.openxmlformats.org/officeDocument/2006/relationships/notesSlide" Target="/ppt/notesSlides/notesSlide4.xml" Id="Rc3e7d2f3c3c048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99598790b34450" /><Relationship Type="http://schemas.openxmlformats.org/officeDocument/2006/relationships/notesSlide" Target="/ppt/notesSlides/notesSlide5.xml" Id="R2b957c036a784a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3e5f32c62c44bc" /><Relationship Type="http://schemas.openxmlformats.org/officeDocument/2006/relationships/notesSlide" Target="/ppt/notesSlides/notesSlide6.xml" Id="Rcf6b96073f5040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4a1151963b43cd" /><Relationship Type="http://schemas.openxmlformats.org/officeDocument/2006/relationships/image" Target="/ppt/media/image4.png" Id="Rf861fb6bd3ef47a2" /><Relationship Type="http://schemas.openxmlformats.org/officeDocument/2006/relationships/notesSlide" Target="/ppt/notesSlides/notesSlide7.xml" Id="R9b3a20bbe1d749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dc569301d240c7" /><Relationship Type="http://schemas.openxmlformats.org/officeDocument/2006/relationships/image" Target="/ppt/media/image5.png" Id="Rcb7cfe7500ad4f2f" /><Relationship Type="http://schemas.openxmlformats.org/officeDocument/2006/relationships/image" Target="/ppt/media/image6.png" Id="R2255188c4d894941" /><Relationship Type="http://schemas.openxmlformats.org/officeDocument/2006/relationships/notesSlide" Target="/ppt/notesSlides/notesSlide8.xml" Id="R53fa230ac2374ffe" /></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f8c0efa649854b45" /><ns0:Relationship Type="http://schemas.openxmlformats.org/officeDocument/2006/relationships/image" Target="/ppt/media/image7.png" Id="R187ed038ca7f4ea5" /><ns0:Relationship Type="http://schemas.openxmlformats.org/officeDocument/2006/relationships/image" Target="/ppt/media/image8.png" Id="R1db9f7a8c62f4aea" /><ns0:Relationship Type="http://schemas.openxmlformats.org/officeDocument/2006/relationships/notesSlide" Target="/ppt/notesSlides/notesSlide9.xml" Id="R37de65457a854d11" /><ns0:Relationship Id="websiteLink" Type="http://schemas.openxmlformats.org/officeDocument/2006/relationships/hyperlink" Target="https://increditble.vercel.app/?view=overview" TargetMode="External" /></ns0: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7189e44bd34c5c" /><Relationship Type="http://schemas.openxmlformats.org/officeDocument/2006/relationships/image" Target="/ppt/media/image9.png" Id="R56594196193a49cf" /><Relationship Type="http://schemas.openxmlformats.org/officeDocument/2006/relationships/image" Target="/ppt/media/image10.png" Id="Ra5a3108ce04742e0" /><Relationship Type="http://schemas.openxmlformats.org/officeDocument/2006/relationships/image" Target="/ppt/media/image11.png" Id="R3c42fab5f4fb4e15" /><Relationship Type="http://schemas.openxmlformats.org/officeDocument/2006/relationships/image" Target="/ppt/media/image12.png" Id="Rf4873bc8005c4c98" /><Relationship Type="http://schemas.openxmlformats.org/officeDocument/2006/relationships/image" Target="/ppt/media/image13.png" Id="R908cd7f9c9884a90" /><Relationship Type="http://schemas.openxmlformats.org/officeDocument/2006/relationships/image" Target="/ppt/media/image.jpeg" Id="Ra1ae411bbd7c4d4a" /><Relationship Type="http://schemas.openxmlformats.org/officeDocument/2006/relationships/notesSlide" Target="/ppt/notesSlides/notesSlide10.xml" Id="R2c7f70551f974d9a" /></Relationships>
</file>

<file path=ppt/slides/slide1.xml><?xml version="1.0" encoding="utf-8"?>
<p:sld xmlns:p="http://schemas.openxmlformats.org/presentationml/2006/main">
  <p:cSld>
    <p:bg>
      <p:bgPr>
        <a:solidFill xmlns:a="http://schemas.openxmlformats.org/drawingml/2006/main">
          <a:srgbClr val="D9FF66"/>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C114E13-D8A0-4AC1-B952-72ECC8E94E05}"/>
              </a:ext>
            </a:extLst>
          </p:cNvPr>
          <p:cNvPicPr>
            <a:picLocks xmlns:a="http://schemas.openxmlformats.org/drawingml/2006/main" noChangeAspect="1"/>
          </p:cNvPicPr>
          <p:nvPr/>
        </p:nvPicPr>
        <p:blipFill>
          <a:blip xmlns:r="http://schemas.openxmlformats.org/officeDocument/2006/relationships" xmlns:a="http://schemas.openxmlformats.org/drawingml/2006/main" r:embed="Rfefe87f5363647ac"/>
          <a:stretch xmlns:a="http://schemas.openxmlformats.org/drawingml/2006/main"/>
        </p:blipFill>
        <p:spPr>
          <a:xfrm xmlns:a="http://schemas.openxmlformats.org/drawingml/2006/main">
            <a:off x="552450" y="492456"/>
            <a:ext cx="2724150" cy="634338"/>
          </a:xfrm>
          <a:prstGeom xmlns:a="http://schemas.openxmlformats.org/drawingml/2006/main" prst="rect">
            <a:avLst/>
          </a:prstGeom>
        </p:spPr>
      </p:pic>
      <p:sp>
        <p:nvSpPr>
          <p:cNvPr id="2" name="Your first&#10;bond.">
            <a:extLst xmlns:a="http://schemas.openxmlformats.org/drawingml/2006/main">
              <a:ext uri="{FF2B5EF4-FFF2-40B4-BE49-F238E27FC236}">
                <a16:creationId xmlns:a16="http://schemas.microsoft.com/office/drawing/2014/main" id="{DE93EEF6-638B-4D31-BCD9-C21DF1D31557}"/>
              </a:ext>
            </a:extLst>
          </p:cNvPr>
          <p:cNvSpPr>
            <a:spLocks xmlns:a="http://schemas.openxmlformats.org/drawingml/2006/main" noGrp="1"/>
          </p:cNvSpPr>
          <p:nvPr/>
        </p:nvSpPr>
        <p:spPr>
          <a:xfrm xmlns:a="http://schemas.openxmlformats.org/drawingml/2006/main">
            <a:off x="552450" y="1866900"/>
            <a:ext cx="6905625"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241634"/>
                </a:solidFill>
                <a:latin typeface="Avenir Next"/>
                <a:ea typeface="Avenir Next"/>
                <a:cs typeface="Avenir Next"/>
              </a:defRPr>
            </a:defPPr>
          </a:lstStyle>
          <a:p xmlns:a="http://schemas.openxmlformats.org/drawingml/2006/main">
            <a:pPr>
              <a:buNone/>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Your first</a:t>
            </a:r>
          </a:p>
          <a:p xmlns:a="http://schemas.openxmlformats.org/drawingml/2006/main">
            <a:pPr>
              <a:buNone/>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bond.</a:t>
            </a:r>
          </a:p>
        </p:txBody>
      </p:sp>
      <p:sp>
        <p:nvSpPr>
          <p:cNvPr id="3" name="At your pace.">
            <a:extLst xmlns:a="http://schemas.openxmlformats.org/drawingml/2006/main">
              <a:ext uri="{FF2B5EF4-FFF2-40B4-BE49-F238E27FC236}">
                <a16:creationId xmlns:a16="http://schemas.microsoft.com/office/drawing/2014/main" id="{9C14D25B-EAB9-4BEA-B3A5-CA53AB22BBD9}"/>
              </a:ext>
            </a:extLst>
          </p:cNvPr>
          <p:cNvSpPr>
            <a:spLocks xmlns:a="http://schemas.openxmlformats.org/drawingml/2006/main" noGrp="1"/>
          </p:cNvSpPr>
          <p:nvPr/>
        </p:nvSpPr>
        <p:spPr>
          <a:xfrm xmlns:a="http://schemas.openxmlformats.org/drawingml/2006/main">
            <a:off x="590550" y="4381500"/>
            <a:ext cx="762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75" b="1">
                <a:solidFill>
                  <a:srgbClr val="7445FF"/>
                </a:solidFill>
                <a:latin typeface="Avenir Next"/>
                <a:ea typeface="Avenir Next"/>
                <a:cs typeface="Avenir Next"/>
              </a:defRPr>
            </a:defPPr>
          </a:lstStyle>
          <a:p xmlns:a="http://schemas.openxmlformats.org/drawingml/2006/main">
            <a:pPr>
              <a:buNone/>
              <a:defRPr sz="5775" b="1">
                <a:solidFill>
                  <a:srgbClr val="7445FF"/>
                </a:solidFill>
                <a:latin typeface="Avenir Next"/>
                <a:ea typeface="Avenir Next"/>
                <a:cs typeface="Avenir Next"/>
              </a:defRPr>
            </a:pPr>
            <a:r>
              <a:rPr sz="5775" b="1">
                <a:solidFill>
                  <a:srgbClr val="7445FF"/>
                </a:solidFill>
                <a:latin typeface="Avenir Next"/>
                <a:ea typeface="Avenir Next"/>
                <a:cs typeface="Avenir Next"/>
              </a:rPr>
              <a:t>At your pace.</a:t>
            </a:r>
          </a:p>
        </p:txBody>
      </p:sp>
      <p:pic>
        <p:nvPicPr>
          <p:cNvPr id="4" name="">
            <a:extLst xmlns:a="http://schemas.openxmlformats.org/drawingml/2006/main">
              <a:ext uri="{FF2B5EF4-FFF2-40B4-BE49-F238E27FC236}">
                <a16:creationId xmlns:a16="http://schemas.microsoft.com/office/drawing/2014/main" id="{E1BB13A7-E4EC-4FC2-81BC-D86F0D249A90}"/>
              </a:ext>
            </a:extLst>
          </p:cNvPr>
          <p:cNvPicPr>
            <a:picLocks xmlns:a="http://schemas.openxmlformats.org/drawingml/2006/main" noChangeAspect="1"/>
          </p:cNvPicPr>
          <p:nvPr/>
        </p:nvPicPr>
        <p:blipFill>
          <a:blip xmlns:r="http://schemas.openxmlformats.org/officeDocument/2006/relationships" xmlns:a="http://schemas.openxmlformats.org/drawingml/2006/main" r:embed="R8693019989e74f64"/>
          <a:stretch xmlns:a="http://schemas.openxmlformats.org/drawingml/2006/main"/>
        </p:blipFill>
        <p:spPr>
          <a:xfrm xmlns:a="http://schemas.openxmlformats.org/drawingml/2006/main">
            <a:off x="8420100" y="2152650"/>
            <a:ext cx="2886075" cy="2886075"/>
          </a:xfrm>
          <a:prstGeom xmlns:a="http://schemas.openxmlformats.org/drawingml/2006/main" prst="rect">
            <a:avLst/>
          </a:prstGeom>
        </p:spPr>
      </p:pic>
      <p:sp>
        <p:nvSpPr>
          <p:cNvPr id="5" name="Corporate bonds for people starting from zero">
            <a:extLst xmlns:a="http://schemas.openxmlformats.org/drawingml/2006/main">
              <a:ext uri="{FF2B5EF4-FFF2-40B4-BE49-F238E27FC236}">
                <a16:creationId xmlns:a16="http://schemas.microsoft.com/office/drawing/2014/main" id="{699C9BAD-0F4C-4D91-848B-EAE2098B7284}"/>
              </a:ext>
            </a:extLst>
          </p:cNvPr>
          <p:cNvSpPr>
            <a:spLocks xmlns:a="http://schemas.openxmlformats.org/drawingml/2006/main" noGrp="1"/>
          </p:cNvSpPr>
          <p:nvPr/>
        </p:nvSpPr>
        <p:spPr>
          <a:xfrm xmlns:a="http://schemas.openxmlformats.org/drawingml/2006/main">
            <a:off x="600075" y="5619750"/>
            <a:ext cx="10001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1634"/>
                </a:solidFill>
                <a:latin typeface="Avenir Next"/>
                <a:ea typeface="Avenir Next"/>
                <a:cs typeface="Avenir Next"/>
              </a:defRPr>
            </a:defPPr>
          </a:lstStyle>
          <a:p xmlns:a="http://schemas.openxmlformats.org/drawingml/2006/main">
            <a:pPr>
              <a:buNone/>
              <a:defRPr sz="2025" b="0">
                <a:solidFill>
                  <a:srgbClr val="241634"/>
                </a:solidFill>
                <a:latin typeface="Avenir Next"/>
                <a:ea typeface="Avenir Next"/>
                <a:cs typeface="Avenir Next"/>
              </a:defRPr>
            </a:pPr>
            <a:r>
              <a:rPr sz="2025" b="0">
                <a:solidFill>
                  <a:srgbClr val="241634"/>
                </a:solidFill>
                <a:latin typeface="Avenir Next"/>
                <a:ea typeface="Avenir Next"/>
                <a:cs typeface="Avenir Next"/>
              </a:rPr>
              <a:t>Corporate bonds for people starting from zero</a:t>
            </a:r>
          </a:p>
        </p:txBody>
      </p:sp>
      <p:sp>
        <p:nvSpPr>
          <p:cNvPr id="6" name="Ivy Pei  /  Product pitch  /  October 2026">
            <a:extLst xmlns:a="http://schemas.openxmlformats.org/drawingml/2006/main">
              <a:ext uri="{FF2B5EF4-FFF2-40B4-BE49-F238E27FC236}">
                <a16:creationId xmlns:a16="http://schemas.microsoft.com/office/drawing/2014/main" id="{6CC60229-1572-4330-9499-98E0D60A7A0E}"/>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Ivy Pei  /  Product pitch  /  October 2026</a:t>
            </a:r>
          </a:p>
        </p:txBody>
      </p:sp>
      <p:sp>
        <p:nvSpPr>
          <p:cNvPr id="7" name="01">
            <a:extLst xmlns:a="http://schemas.openxmlformats.org/drawingml/2006/main">
              <a:ext uri="{FF2B5EF4-FFF2-40B4-BE49-F238E27FC236}">
                <a16:creationId xmlns:a16="http://schemas.microsoft.com/office/drawing/2014/main" id="{D1B83AE7-08C0-4778-8B0C-156C17016603}"/>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01</a:t>
            </a:r>
          </a:p>
        </p:txBody>
      </p:sp>
    </p:spTree>
    <p:extLst>
      <p:ext uri="{BB962C8B-B14F-4D97-AF65-F5344CB8AC3E}">
        <p14:creationId xmlns:p14="http://schemas.microsoft.com/office/powerpoint/2010/main" val="1437242499"/>
      </p:ext>
    </p:extLst>
  </p:cSld>
</p:sld>
</file>

<file path=ppt/slides/slide2.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8" name="The first step is the hard part">
            <a:extLst xmlns:a="http://schemas.openxmlformats.org/drawingml/2006/main">
              <a:ext uri="{FF2B5EF4-FFF2-40B4-BE49-F238E27FC236}">
                <a16:creationId xmlns:a16="http://schemas.microsoft.com/office/drawing/2014/main" id="{B8D893AF-1AA3-4605-8A05-93EDCD96115A}"/>
              </a:ext>
            </a:extLst>
          </p:cNvPr>
          <p:cNvSpPr>
            <a:spLocks xmlns:a="http://schemas.openxmlformats.org/drawingml/2006/main" noGrp="1"/>
          </p:cNvSpPr>
          <p:nvPr/>
        </p:nvSpPr>
        <p:spPr>
          <a:xfrm xmlns:a="http://schemas.openxmlformats.org/drawingml/2006/main">
            <a:off x="552450" y="523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FFFDF5"/>
                </a:solidFill>
                <a:latin typeface="Avenir Next"/>
                <a:ea typeface="Avenir Next"/>
                <a:cs typeface="Avenir Next"/>
              </a:defRPr>
            </a:defPPr>
          </a:lstStyle>
          <a:p xmlns:a="http://schemas.openxmlformats.org/drawingml/2006/main">
            <a:pPr>
              <a:buNone/>
              <a:defRPr sz="3600" b="1">
                <a:solidFill>
                  <a:srgbClr val="FFFDF5"/>
                </a:solidFill>
                <a:latin typeface="Avenir Next"/>
                <a:ea typeface="Avenir Next"/>
                <a:cs typeface="Avenir Next"/>
              </a:defRPr>
            </a:pPr>
            <a:r>
              <a:rPr sz="3600" b="1">
                <a:solidFill>
                  <a:srgbClr val="FFFDF5"/>
                </a:solidFill>
                <a:latin typeface="Avenir Next"/>
                <a:ea typeface="Avenir Next"/>
                <a:cs typeface="Avenir Next"/>
              </a:rPr>
              <a:t>The first step is the hard part</a:t>
            </a:r>
          </a:p>
        </p:txBody>
      </p:sp>
      <p:sp>
        <p:nvSpPr>
          <p:cNvPr id="2" name="“I want to invest&#10;in bonds, but&#10;don’t know&#10;where">
            <a:extLst xmlns:a="http://schemas.openxmlformats.org/drawingml/2006/main">
              <a:ext uri="{FF2B5EF4-FFF2-40B4-BE49-F238E27FC236}">
                <a16:creationId xmlns:a16="http://schemas.microsoft.com/office/drawing/2014/main" id="{8079DB1A-788E-42BC-A0DE-1258B23CD0CB}"/>
              </a:ext>
            </a:extLst>
          </p:cNvPr>
          <p:cNvSpPr>
            <a:spLocks xmlns:a="http://schemas.openxmlformats.org/drawingml/2006/main" noGrp="1"/>
          </p:cNvSpPr>
          <p:nvPr/>
        </p:nvSpPr>
        <p:spPr>
          <a:xfrm xmlns:a="http://schemas.openxmlformats.org/drawingml/2006/main">
            <a:off x="552450" y="1952625"/>
            <a:ext cx="7124700" cy="358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FFFDF5"/>
                </a:solidFill>
                <a:latin typeface="Avenir Next"/>
                <a:ea typeface="Avenir Next"/>
                <a:cs typeface="Avenir Next"/>
              </a:defRPr>
            </a:defPPr>
          </a:lstStyle>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 want to invest</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in bonds, but</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don’t know</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where to start.”</a:t>
            </a:r>
          </a:p>
        </p:txBody>
      </p:sp>
      <p:sp>
        <p:nvSpPr>
          <p:cNvPr id="3" name="“Finding a bond’s CUSIP&#10;is such a pain.”">
            <a:extLst xmlns:a="http://schemas.openxmlformats.org/drawingml/2006/main">
              <a:ext uri="{FF2B5EF4-FFF2-40B4-BE49-F238E27FC236}">
                <a16:creationId xmlns:a16="http://schemas.microsoft.com/office/drawing/2014/main" id="{A38C8DA8-A20B-4FC2-A20E-4CCD61313057}"/>
              </a:ext>
            </a:extLst>
          </p:cNvPr>
          <p:cNvSpPr>
            <a:spLocks xmlns:a="http://schemas.openxmlformats.org/drawingml/2006/main" noGrp="1"/>
          </p:cNvSpPr>
          <p:nvPr/>
        </p:nvSpPr>
        <p:spPr>
          <a:xfrm xmlns:a="http://schemas.openxmlformats.org/drawingml/2006/main">
            <a:off x="8362950" y="2019300"/>
            <a:ext cx="327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9FF66"/>
                </a:solidFill>
                <a:latin typeface="Avenir Next"/>
                <a:ea typeface="Avenir Next"/>
                <a:cs typeface="Avenir Next"/>
              </a:defRPr>
            </a:defPPr>
          </a:lstStyle>
          <a:p xmlns:a="http://schemas.openxmlformats.org/drawingml/2006/main">
            <a:pPr>
              <a:buNone/>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“Finding a bond’s CUSIP</a:t>
            </a:r>
          </a:p>
          <a:p xmlns:a="http://schemas.openxmlformats.org/drawingml/2006/main">
            <a:pPr>
              <a:buNone/>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is such a pain.”</a:t>
            </a:r>
          </a:p>
        </p:txBody>
      </p:sp>
      <p:sp>
        <p:nvSpPr>
          <p:cNvPr id="4" name="“Fidelity’s bond account&#10;is not for me.”">
            <a:extLst xmlns:a="http://schemas.openxmlformats.org/drawingml/2006/main">
              <a:ext uri="{FF2B5EF4-FFF2-40B4-BE49-F238E27FC236}">
                <a16:creationId xmlns:a16="http://schemas.microsoft.com/office/drawing/2014/main" id="{2BCCB204-5667-4DAE-97B5-CCA24F05D7FF}"/>
              </a:ext>
            </a:extLst>
          </p:cNvPr>
          <p:cNvSpPr>
            <a:spLocks xmlns:a="http://schemas.openxmlformats.org/drawingml/2006/main" noGrp="1"/>
          </p:cNvSpPr>
          <p:nvPr/>
        </p:nvSpPr>
        <p:spPr>
          <a:xfrm xmlns:a="http://schemas.openxmlformats.org/drawingml/2006/main">
            <a:off x="8362950" y="363855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“Fidelity’s bond account</a:t>
            </a:r>
          </a:p>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is not for me.”</a:t>
            </a:r>
          </a:p>
        </p:txBody>
      </p:sp>
      <p:sp>
        <p:nvSpPr>
          <p:cNvPr id="5" name="“I only want to invest&#10;a small amount.”">
            <a:extLst xmlns:a="http://schemas.openxmlformats.org/drawingml/2006/main">
              <a:ext uri="{FF2B5EF4-FFF2-40B4-BE49-F238E27FC236}">
                <a16:creationId xmlns:a16="http://schemas.microsoft.com/office/drawing/2014/main" id="{1EDC193A-C411-4C2B-9395-5524D52006DE}"/>
              </a:ext>
            </a:extLst>
          </p:cNvPr>
          <p:cNvSpPr>
            <a:spLocks xmlns:a="http://schemas.openxmlformats.org/drawingml/2006/main" noGrp="1"/>
          </p:cNvSpPr>
          <p:nvPr/>
        </p:nvSpPr>
        <p:spPr>
          <a:xfrm xmlns:a="http://schemas.openxmlformats.org/drawingml/2006/main">
            <a:off x="8362950" y="499110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 only want to invest</a:t>
            </a:r>
          </a:p>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a small amount.”</a:t>
            </a:r>
          </a:p>
        </p:txBody>
      </p:sp>
      <p:sp>
        <p:nvSpPr>
          <p:cNvPr id="6" name="Customer discovery comments, edited for clarity">
            <a:extLst xmlns:a="http://schemas.openxmlformats.org/drawingml/2006/main">
              <a:ext uri="{FF2B5EF4-FFF2-40B4-BE49-F238E27FC236}">
                <a16:creationId xmlns:a16="http://schemas.microsoft.com/office/drawing/2014/main" id="{2B663784-913B-40B9-BF4D-FFB34B216A43}"/>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Customer discovery comments, edited for clarity</a:t>
            </a:r>
          </a:p>
        </p:txBody>
      </p:sp>
      <p:sp>
        <p:nvSpPr>
          <p:cNvPr id="7" name="02">
            <a:extLst xmlns:a="http://schemas.openxmlformats.org/drawingml/2006/main">
              <a:ext uri="{FF2B5EF4-FFF2-40B4-BE49-F238E27FC236}">
                <a16:creationId xmlns:a16="http://schemas.microsoft.com/office/drawing/2014/main" id="{B38D4C3D-0AC4-40F5-B4D4-F6C77A5CCE7F}"/>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02</a:t>
            </a:r>
          </a:p>
        </p:txBody>
      </p:sp>
    </p:spTree>
    <p:extLst>
      <p:ext uri="{BB962C8B-B14F-4D97-AF65-F5344CB8AC3E}">
        <p14:creationId xmlns:p14="http://schemas.microsoft.com/office/powerpoint/2010/main" val="73055717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241634"/>
        </a:solidFill>
      </p:bgPr>
    </p:bg>
    <p:spTree>
      <p:nvGrpSpPr>
        <p:cNvPr id="1" name=""/>
        <p:cNvGrpSpPr/>
        <p:nvPr/>
      </p:nvGrpSpPr>
      <p:grpSpPr>
        <a:xfrm/>
      </p:grpSpPr>
      <p:pic>
        <p:nvPicPr>
          <p:cNvPr id="2" name="InCreditble-stage-demo.mp4" descr="Click to play the embedded 68-second product demonstration">
            <a:hlinkClick action="ppaction://media"/>
            <a:extLst>
              <a:ext uri="{FF2B5EF4-FFF2-40B4-BE49-F238E27FC236}">
                <ns2:creationId id="{216C3908-60F8-4341-97C0-862A3BE0740A}"/>
              </a:ext>
            </a:extLst>
          </p:cNvPr>
          <p:cNvPicPr>
            <a:picLocks noChangeAspect="1"/>
          </p:cNvPicPr>
          <p:nvPr>
            <a:videoFile r:link="stageVideo"/>
            <p:extLst>
              <p:ext uri="{DAA4B4D4-6D71-4841-9C94-3DE7FCFB9230}">
                <p14:media r:embed="stageMedia"/>
              </p:ext>
            </p:extLst>
          </p:nvPr>
        </p:nvPicPr>
        <p:blipFill>
          <a:blip r:embed="Rd14cc6d822eb41f9"/>
          <a:stretch/>
        </p:blipFill>
        <p:spPr>
          <a:xfrm>
            <a:off x="0" y="0"/>
            <a:ext cx="12192000" cy="6858000"/>
          </a:xfrm>
          <a:prstGeom prst="rect">
            <a:avLst/>
          </a:prstGeom>
        </p:spPr>
      </p:pic>
    </p:spTree>
    <p:extLst>
      <p:ext uri="{BB962C8B-B14F-4D97-AF65-F5344CB8AC3E}">
        <p14:creationId val="1600355215"/>
      </p:ext>
    </p:extLst>
  </p:cSld>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4.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sp>
        <p:nvSpPr>
          <p:cNvPr id="11" name="A large market. A personal first step.">
            <a:extLst xmlns:a="http://schemas.openxmlformats.org/drawingml/2006/main">
              <a:ext uri="{FF2B5EF4-FFF2-40B4-BE49-F238E27FC236}">
                <a16:creationId xmlns:a16="http://schemas.microsoft.com/office/drawing/2014/main" id="{56E6F011-7278-4A0D-9025-E0BB2CF3BBD0}"/>
              </a:ext>
            </a:extLst>
          </p:cNvPr>
          <p:cNvSpPr>
            <a:spLocks xmlns:a="http://schemas.openxmlformats.org/drawingml/2006/main" noGrp="1"/>
          </p:cNvSpPr>
          <p:nvPr/>
        </p:nvSpPr>
        <p:spPr>
          <a:xfrm xmlns:a="http://schemas.openxmlformats.org/drawingml/2006/main">
            <a:off x="552450" y="5143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FFFFFF"/>
                </a:solidFill>
                <a:latin typeface="Avenir Next"/>
                <a:ea typeface="Avenir Next"/>
                <a:cs typeface="Avenir Next"/>
              </a:defRPr>
            </a:defPPr>
          </a:lstStyle>
          <a:p xmlns:a="http://schemas.openxmlformats.org/drawingml/2006/main">
            <a:pPr>
              <a:buNone/>
              <a:defRPr sz="3375" b="1">
                <a:solidFill>
                  <a:srgbClr val="FFFFFF"/>
                </a:solidFill>
                <a:latin typeface="Avenir Next"/>
                <a:ea typeface="Avenir Next"/>
                <a:cs typeface="Avenir Next"/>
              </a:defRPr>
            </a:pPr>
            <a:r>
              <a:rPr sz="3375" b="1">
                <a:solidFill>
                  <a:srgbClr val="FFFFFF"/>
                </a:solidFill>
                <a:latin typeface="Avenir Next"/>
                <a:ea typeface="Avenir Next"/>
                <a:cs typeface="Avenir Next"/>
              </a:rPr>
              <a:t>A large market. A personal first step.</a:t>
            </a:r>
          </a:p>
        </p:txBody>
      </p:sp>
      <p:sp>
        <p:nvSpPr>
          <p:cNvPr id="2" name="$12.1T">
            <a:extLst xmlns:a="http://schemas.openxmlformats.org/drawingml/2006/main">
              <a:ext uri="{FF2B5EF4-FFF2-40B4-BE49-F238E27FC236}">
                <a16:creationId xmlns:a16="http://schemas.microsoft.com/office/drawing/2014/main" id="{C2CA3A74-6948-4998-9E9C-82036780471D}"/>
              </a:ext>
            </a:extLst>
          </p:cNvPr>
          <p:cNvSpPr>
            <a:spLocks xmlns:a="http://schemas.openxmlformats.org/drawingml/2006/main" noGrp="1"/>
          </p:cNvSpPr>
          <p:nvPr/>
        </p:nvSpPr>
        <p:spPr>
          <a:xfrm xmlns:a="http://schemas.openxmlformats.org/drawingml/2006/main">
            <a:off x="495300" y="1695450"/>
            <a:ext cx="77533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700" b="1">
                <a:solidFill>
                  <a:srgbClr val="FFFFFF"/>
                </a:solidFill>
                <a:latin typeface="Avenir Next"/>
                <a:ea typeface="Avenir Next"/>
                <a:cs typeface="Avenir Next"/>
              </a:defRPr>
            </a:defPPr>
          </a:lstStyle>
          <a:p xmlns:a="http://schemas.openxmlformats.org/drawingml/2006/main">
            <a:pPr>
              <a:buNone/>
              <a:defRPr sz="11700" b="1">
                <a:solidFill>
                  <a:srgbClr val="FFFFFF"/>
                </a:solidFill>
                <a:latin typeface="Avenir Next"/>
                <a:ea typeface="Avenir Next"/>
                <a:cs typeface="Avenir Next"/>
              </a:defRPr>
            </a:pPr>
            <a:r>
              <a:rPr sz="11700" b="1">
                <a:solidFill>
                  <a:srgbClr val="FFFFFF"/>
                </a:solidFill>
                <a:latin typeface="Avenir Next"/>
                <a:ea typeface="Avenir Next"/>
                <a:cs typeface="Avenir Next"/>
              </a:rPr>
              <a:t>$12.1T</a:t>
            </a:r>
          </a:p>
        </p:txBody>
      </p:sp>
      <p:sp>
        <p:nvSpPr>
          <p:cNvPr id="3" name="U.S. corporate bonds outstanding">
            <a:extLst xmlns:a="http://schemas.openxmlformats.org/drawingml/2006/main">
              <a:ext uri="{FF2B5EF4-FFF2-40B4-BE49-F238E27FC236}">
                <a16:creationId xmlns:a16="http://schemas.microsoft.com/office/drawing/2014/main" id="{332AACA5-871B-4D7E-8AC3-4BC0FCBB6142}"/>
              </a:ext>
            </a:extLst>
          </p:cNvPr>
          <p:cNvSpPr>
            <a:spLocks xmlns:a="http://schemas.openxmlformats.org/drawingml/2006/main" noGrp="1"/>
          </p:cNvSpPr>
          <p:nvPr/>
        </p:nvSpPr>
        <p:spPr>
          <a:xfrm xmlns:a="http://schemas.openxmlformats.org/drawingml/2006/main">
            <a:off x="619125" y="36004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FFFFFF"/>
                </a:solidFill>
                <a:latin typeface="Avenir Next"/>
                <a:ea typeface="Avenir Next"/>
                <a:cs typeface="Avenir Next"/>
              </a:defRPr>
            </a:defPPr>
          </a:lstStyle>
          <a:p xmlns:a="http://schemas.openxmlformats.org/drawingml/2006/main">
            <a:pPr>
              <a:buNone/>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U.S. corporate bonds outstanding</a:t>
            </a:r>
          </a:p>
        </p:txBody>
      </p:sp>
      <p:sp>
        <p:nvSpPr>
          <p:cNvPr id="4" name="Q2 2026">
            <a:extLst xmlns:a="http://schemas.openxmlformats.org/drawingml/2006/main">
              <a:ext uri="{FF2B5EF4-FFF2-40B4-BE49-F238E27FC236}">
                <a16:creationId xmlns:a16="http://schemas.microsoft.com/office/drawing/2014/main" id="{A51F9C11-DE06-491B-B962-0732BF923B31}"/>
              </a:ext>
            </a:extLst>
          </p:cNvPr>
          <p:cNvSpPr>
            <a:spLocks xmlns:a="http://schemas.openxmlformats.org/drawingml/2006/main" noGrp="1"/>
          </p:cNvSpPr>
          <p:nvPr/>
        </p:nvSpPr>
        <p:spPr>
          <a:xfrm xmlns:a="http://schemas.openxmlformats.org/drawingml/2006/main">
            <a:off x="619125" y="4105275"/>
            <a:ext cx="638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DD0FF"/>
                </a:solidFill>
                <a:latin typeface="Avenir Next"/>
                <a:ea typeface="Avenir Next"/>
                <a:cs typeface="Avenir Next"/>
              </a:defRPr>
            </a:defPPr>
          </a:lstStyle>
          <a:p xmlns:a="http://schemas.openxmlformats.org/drawingml/2006/main">
            <a:pPr>
              <a:buNone/>
              <a:defRPr sz="1650" b="0">
                <a:solidFill>
                  <a:srgbClr val="DDD0FF"/>
                </a:solidFill>
                <a:latin typeface="Avenir Next"/>
                <a:ea typeface="Avenir Next"/>
                <a:cs typeface="Avenir Next"/>
              </a:defRPr>
            </a:pPr>
            <a:r>
              <a:rPr sz="1650" b="0">
                <a:solidFill>
                  <a:srgbClr val="DDD0FF"/>
                </a:solidFill>
                <a:latin typeface="Avenir Next"/>
                <a:ea typeface="Avenir Next"/>
                <a:cs typeface="Avenir Next"/>
              </a:rPr>
              <a:t>Q2 2026</a:t>
            </a:r>
          </a:p>
        </p:txBody>
      </p:sp>
      <p:sp>
        <p:nvSpPr>
          <p:cNvPr id="5" name="$66.7B">
            <a:extLst xmlns:a="http://schemas.openxmlformats.org/drawingml/2006/main">
              <a:ext uri="{FF2B5EF4-FFF2-40B4-BE49-F238E27FC236}">
                <a16:creationId xmlns:a16="http://schemas.microsoft.com/office/drawing/2014/main" id="{51C3F2D1-76D8-46A4-893E-F77223B05B17}"/>
              </a:ext>
            </a:extLst>
          </p:cNvPr>
          <p:cNvSpPr>
            <a:spLocks xmlns:a="http://schemas.openxmlformats.org/drawingml/2006/main" noGrp="1"/>
          </p:cNvSpPr>
          <p:nvPr/>
        </p:nvSpPr>
        <p:spPr>
          <a:xfrm xmlns:a="http://schemas.openxmlformats.org/drawingml/2006/main">
            <a:off x="628650" y="4914900"/>
            <a:ext cx="3648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75" b="1">
                <a:solidFill>
                  <a:srgbClr val="D9FF66"/>
                </a:solidFill>
                <a:latin typeface="Avenir Next"/>
                <a:ea typeface="Avenir Next"/>
                <a:cs typeface="Avenir Next"/>
              </a:defRPr>
            </a:defPPr>
          </a:lstStyle>
          <a:p xmlns:a="http://schemas.openxmlformats.org/drawingml/2006/main">
            <a:pPr>
              <a:buNone/>
              <a:defRPr sz="4275" b="1">
                <a:solidFill>
                  <a:srgbClr val="D9FF66"/>
                </a:solidFill>
                <a:latin typeface="Avenir Next"/>
                <a:ea typeface="Avenir Next"/>
                <a:cs typeface="Avenir Next"/>
              </a:defRPr>
            </a:pPr>
            <a:r>
              <a:rPr sz="4275" b="1">
                <a:solidFill>
                  <a:srgbClr val="D9FF66"/>
                </a:solidFill>
                <a:latin typeface="Avenir Next"/>
                <a:ea typeface="Avenir Next"/>
                <a:cs typeface="Avenir Next"/>
              </a:rPr>
              <a:t>$66.7B</a:t>
            </a:r>
          </a:p>
        </p:txBody>
      </p:sp>
      <p:sp>
        <p:nvSpPr>
          <p:cNvPr id="6" name="Average daily trading&#10;Jan–Sep 2026">
            <a:extLst xmlns:a="http://schemas.openxmlformats.org/drawingml/2006/main">
              <a:ext uri="{FF2B5EF4-FFF2-40B4-BE49-F238E27FC236}">
                <a16:creationId xmlns:a16="http://schemas.microsoft.com/office/drawing/2014/main" id="{7BE0CC74-E561-429A-80F5-C7E90E794FA0}"/>
              </a:ext>
            </a:extLst>
          </p:cNvPr>
          <p:cNvSpPr>
            <a:spLocks xmlns:a="http://schemas.openxmlformats.org/drawingml/2006/main" noGrp="1"/>
          </p:cNvSpPr>
          <p:nvPr/>
        </p:nvSpPr>
        <p:spPr>
          <a:xfrm xmlns:a="http://schemas.openxmlformats.org/drawingml/2006/main">
            <a:off x="4238625" y="5010150"/>
            <a:ext cx="314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FFFFF"/>
                </a:solidFill>
                <a:latin typeface="Avenir Next"/>
                <a:ea typeface="Avenir Next"/>
                <a:cs typeface="Avenir Next"/>
              </a:defRPr>
            </a:defPPr>
          </a:lstStyle>
          <a:p xmlns:a="http://schemas.openxmlformats.org/drawingml/2006/main">
            <a:pPr>
              <a:buNone/>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Average daily trading</a:t>
            </a:r>
          </a:p>
          <a:p xmlns:a="http://schemas.openxmlformats.org/drawingml/2006/main">
            <a:pPr>
              <a:buNone/>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Jan–Sep 2026</a:t>
            </a:r>
          </a:p>
        </p:txBody>
      </p:sp>
      <p:sp>
        <p:nvSpPr>
          <p:cNvPr id="7" name="Our first&#10;customer">
            <a:extLst xmlns:a="http://schemas.openxmlformats.org/drawingml/2006/main">
              <a:ext uri="{FF2B5EF4-FFF2-40B4-BE49-F238E27FC236}">
                <a16:creationId xmlns:a16="http://schemas.microsoft.com/office/drawing/2014/main" id="{11BC352E-9F22-4583-81F6-7E4287CFFDBF}"/>
              </a:ext>
            </a:extLst>
          </p:cNvPr>
          <p:cNvSpPr>
            <a:spLocks xmlns:a="http://schemas.openxmlformats.org/drawingml/2006/main" noGrp="1"/>
          </p:cNvSpPr>
          <p:nvPr/>
        </p:nvSpPr>
        <p:spPr>
          <a:xfrm xmlns:a="http://schemas.openxmlformats.org/drawingml/2006/main">
            <a:off x="8562975" y="2114550"/>
            <a:ext cx="304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D9FF66"/>
                </a:solidFill>
                <a:latin typeface="Avenir Next"/>
                <a:ea typeface="Avenir Next"/>
                <a:cs typeface="Avenir Next"/>
              </a:defRPr>
            </a:defPPr>
          </a:lstStyle>
          <a:p xmlns:a="http://schemas.openxmlformats.org/drawingml/2006/main">
            <a:pPr>
              <a:buNone/>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Our first</a:t>
            </a:r>
          </a:p>
          <a:p xmlns:a="http://schemas.openxmlformats.org/drawingml/2006/main">
            <a:pPr>
              <a:buNone/>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customer</a:t>
            </a:r>
          </a:p>
        </p:txBody>
      </p:sp>
      <p:sp>
        <p:nvSpPr>
          <p:cNvPr id="8" name="U.S. adults new to&#10;individual bonds,&#10;including o">
            <a:extLst xmlns:a="http://schemas.openxmlformats.org/drawingml/2006/main">
              <a:ext uri="{FF2B5EF4-FFF2-40B4-BE49-F238E27FC236}">
                <a16:creationId xmlns:a16="http://schemas.microsoft.com/office/drawing/2014/main" id="{97099019-DAB1-4FDD-AD81-D8D8CCCF7720}"/>
              </a:ext>
            </a:extLst>
          </p:cNvPr>
          <p:cNvSpPr>
            <a:spLocks xmlns:a="http://schemas.openxmlformats.org/drawingml/2006/main" noGrp="1"/>
          </p:cNvSpPr>
          <p:nvPr/>
        </p:nvSpPr>
        <p:spPr>
          <a:xfrm xmlns:a="http://schemas.openxmlformats.org/drawingml/2006/main">
            <a:off x="8562975" y="3867150"/>
            <a:ext cx="30670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FFFFF"/>
                </a:solidFill>
                <a:latin typeface="Avenir Next"/>
                <a:ea typeface="Avenir Next"/>
                <a:cs typeface="Avenir Next"/>
              </a:defRPr>
            </a:defPPr>
          </a:lstStyle>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U.S. adults new to</a:t>
            </a:r>
          </a:p>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individual bonds,</a:t>
            </a:r>
          </a:p>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including older adults</a:t>
            </a:r>
          </a:p>
        </p:txBody>
      </p:sp>
      <p:sp>
        <p:nvSpPr>
          <p:cNvPr id="9" name="SIFMA, Oct 5, 2026. Asset market size does not r">
            <a:extLst xmlns:a="http://schemas.openxmlformats.org/drawingml/2006/main">
              <a:ext uri="{FF2B5EF4-FFF2-40B4-BE49-F238E27FC236}">
                <a16:creationId xmlns:a16="http://schemas.microsoft.com/office/drawing/2014/main" id="{821D38AC-462A-494D-8309-A9E973B0E30A}"/>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SIFMA, Oct 5, 2026. Asset market size does not represent addressable platform revenue.</a:t>
            </a:r>
          </a:p>
        </p:txBody>
      </p:sp>
      <p:sp>
        <p:nvSpPr>
          <p:cNvPr id="10" name="03">
            <a:extLst xmlns:a="http://schemas.openxmlformats.org/drawingml/2006/main">
              <a:ext uri="{FF2B5EF4-FFF2-40B4-BE49-F238E27FC236}">
                <a16:creationId xmlns:a16="http://schemas.microsoft.com/office/drawing/2014/main" id="{49BCEF6D-BB04-457E-9C5C-1FD4A2F3A26E}"/>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04</a:t>
            </a:r>
          </a:p>
        </p:txBody>
      </p:sp>
    </p:spTree>
    <p:extLst>
      <p:ext uri="{BB962C8B-B14F-4D97-AF65-F5344CB8AC3E}">
        <p14:creationId xmlns:p14="http://schemas.microsoft.com/office/powerpoint/2010/main" val="1664908857"/>
      </p:ext>
    </p:extLst>
  </p:cSld>
</p:sld>
</file>

<file path=ppt/slides/slide5.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6" name="Our place in a busy market">
            <a:extLst xmlns:a="http://schemas.openxmlformats.org/drawingml/2006/main">
              <a:ext uri="{FF2B5EF4-FFF2-40B4-BE49-F238E27FC236}">
                <a16:creationId xmlns:a16="http://schemas.microsoft.com/office/drawing/2014/main" id="{028C32F6-7A82-4B39-9A69-D8131CDFA799}"/>
              </a:ext>
            </a:extLst>
          </p:cNvPr>
          <p:cNvSpPr>
            <a:spLocks xmlns:a="http://schemas.openxmlformats.org/drawingml/2006/main" noGrp="1"/>
          </p:cNvSpPr>
          <p:nvPr/>
        </p:nvSpPr>
        <p:spPr>
          <a:xfrm xmlns:a="http://schemas.openxmlformats.org/drawingml/2006/main">
            <a:off x="552450" y="542925"/>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125" b="1">
                <a:solidFill>
                  <a:srgbClr val="241634"/>
                </a:solidFill>
                <a:latin typeface="Avenir Next"/>
                <a:ea typeface="Avenir Next"/>
                <a:cs typeface="Avenir Next"/>
              </a:defRPr>
            </a:defPPr>
          </a:lstStyle>
          <a:p xmlns:a="http://schemas.openxmlformats.org/drawingml/2006/main">
            <a:pPr>
              <a:buNone/>
              <a:defRPr sz="4125" b="1">
                <a:solidFill>
                  <a:srgbClr val="241634"/>
                </a:solidFill>
                <a:latin typeface="Avenir Next"/>
                <a:ea typeface="Avenir Next"/>
                <a:cs typeface="Avenir Next"/>
              </a:defRPr>
            </a:pPr>
            <a:r>
              <a:rPr sz="4125" b="1">
                <a:solidFill>
                  <a:srgbClr val="241634"/>
                </a:solidFill>
                <a:latin typeface="Avenir Next"/>
                <a:ea typeface="Avenir Next"/>
                <a:cs typeface="Avenir Next"/>
              </a:rPr>
              <a:t>Our place in a busy market</a:t>
            </a:r>
          </a:p>
        </p:txBody>
      </p:sp>
      <p:sp>
        <p:nvSpPr>
          <p:cNvPr id="2" name="Fewer choices. More explanation before a decisio">
            <a:extLst xmlns:a="http://schemas.openxmlformats.org/drawingml/2006/main">
              <a:ext uri="{FF2B5EF4-FFF2-40B4-BE49-F238E27FC236}">
                <a16:creationId xmlns:a16="http://schemas.microsoft.com/office/drawing/2014/main" id="{419690A8-B202-4207-B621-E28E6DE2C86B}"/>
              </a:ext>
            </a:extLst>
          </p:cNvPr>
          <p:cNvSpPr>
            <a:spLocks xmlns:a="http://schemas.openxmlformats.org/drawingml/2006/main" noGrp="1"/>
          </p:cNvSpPr>
          <p:nvPr/>
        </p:nvSpPr>
        <p:spPr>
          <a:xfrm xmlns:a="http://schemas.openxmlformats.org/drawingml/2006/main">
            <a:off x="571500" y="14573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7445FF"/>
                </a:solidFill>
                <a:latin typeface="Avenir Next"/>
                <a:ea typeface="Avenir Next"/>
                <a:cs typeface="Avenir Next"/>
              </a:defRPr>
            </a:defPPr>
          </a:lstStyle>
          <a:p xmlns:a="http://schemas.openxmlformats.org/drawingml/2006/main">
            <a:pPr>
              <a:buNone/>
              <a:defRPr sz="2175" b="0">
                <a:solidFill>
                  <a:srgbClr val="7445FF"/>
                </a:solidFill>
                <a:latin typeface="Avenir Next"/>
                <a:ea typeface="Avenir Next"/>
                <a:cs typeface="Avenir Next"/>
              </a:defRPr>
            </a:pPr>
            <a:r>
              <a:rPr sz="2175" b="0">
                <a:solidFill>
                  <a:srgbClr val="7445FF"/>
                </a:solidFill>
                <a:latin typeface="Avenir Next"/>
                <a:ea typeface="Avenir Next"/>
                <a:cs typeface="Avenir Next"/>
              </a:rPr>
              <a:t>Fewer choices. More explanation before a decision.</a:t>
            </a:r>
          </a:p>
        </p:txBody>
      </p:sp>
      <p:graphicFrame>
        <p:nvGraphicFramePr>
          <p:cNvPr id="3" name="">
            <a:extLst xmlns:a="http://schemas.openxmlformats.org/drawingml/2006/main">
              <a:ext uri="{FF2B5EF4-FFF2-40B4-BE49-F238E27FC236}">
                <a16:creationId xmlns:a16="http://schemas.microsoft.com/office/drawing/2014/main" id="{901E68AC-2960-4181-96A3-E147F58FAB32}"/>
              </a:ext>
            </a:extLst>
          </p:cNvPr>
          <p:cNvGraphicFramePr/>
          <p:nvPr/>
        </p:nvGraphicFramePr>
        <p:xfrm>
          <a:off xmlns:a="http://schemas.openxmlformats.org/drawingml/2006/main" x="552450" y="2324100"/>
          <a:ext xmlns:a="http://schemas.openxmlformats.org/drawingml/2006/main" cx="11087100" cy="3381375"/>
        </p:xfrm>
        <a:graphic xmlns:a="http://schemas.openxmlformats.org/drawingml/2006/main">
          <a:graphicData uri="http://schemas.openxmlformats.org/drawingml/2006/table">
            <a:tbl>
              <a:tblPr/>
              <a:tblGrid>
                <a:gridCol w="2238375"/>
                <a:gridCol w="5276850"/>
                <a:gridCol w="3571875"/>
              </a:tblGrid>
              <a:tr h="621506">
                <a:tc>
                  <a:txBody>
                    <a:bodyPr/>
                    <a:lstStyle/>
                    <a:p>
                      <a:r>
                        <a:rPr sz="1350" b="1">
                          <a:solidFill>
                            <a:srgbClr val="786E82"/>
                          </a:solidFill>
                          <a:latin typeface="Avenir Next"/>
                          <a:ea typeface="Avenir Next"/>
                          <a:cs typeface="Avenir Next"/>
                        </a:rPr>
                        <a:t>PRODUCT</a:t>
                      </a:r>
                    </a:p>
                  </a:txBody>
                  <a:tcPr marL="123825" marR="123825" marT="133350" marB="76200" anchor="ctr">
                    <a:solidFill>
                      <a:srgbClr val="FFFDF5"/>
                    </a:solidFill>
                  </a:tcPr>
                </a:tc>
                <a:tc>
                  <a:txBody>
                    <a:bodyPr/>
                    <a:lstStyle/>
                    <a:p>
                      <a:r>
                        <a:rPr sz="1350" b="0">
                          <a:solidFill>
                            <a:srgbClr val="786E82"/>
                          </a:solidFill>
                          <a:latin typeface="Avenir Next"/>
                          <a:ea typeface="Avenir Next"/>
                          <a:cs typeface="Avenir Next"/>
                        </a:rPr>
                        <a:t>HOW IT WORKS</a:t>
                      </a:r>
                    </a:p>
                  </a:txBody>
                  <a:tcPr marL="123825" marR="123825" marT="133350" marB="76200" anchor="ctr">
                    <a:solidFill>
                      <a:srgbClr val="FFFDF5"/>
                    </a:solidFill>
                  </a:tcPr>
                </a:tc>
                <a:tc>
                  <a:txBody>
                    <a:bodyPr/>
                    <a:lstStyle/>
                    <a:p>
                      <a:r>
                        <a:rPr sz="1350" b="0">
                          <a:solidFill>
                            <a:srgbClr val="786E82"/>
                          </a:solidFill>
                          <a:latin typeface="Avenir Next"/>
                          <a:ea typeface="Avenir Next"/>
                          <a:cs typeface="Avenir Next"/>
                        </a:rPr>
                        <a:t>STARTING AMOUNT</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Fidelity</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Filtered inventory, investor chooses</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Varies by offering</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Robinhood</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Bond ETFs, no individual bonds</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$1 on eligible ETF shares</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Webull managed</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Portfolio selects bonds for a strategy</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$2,000 corporate strategy</a:t>
                      </a:r>
                    </a:p>
                  </a:txBody>
                  <a:tcPr marL="123825" marR="123825" marT="133350" marB="76200" anchor="ctr">
                    <a:solidFill>
                      <a:srgbClr val="FFFDF5"/>
                    </a:solidFill>
                  </a:tcPr>
                </a:tc>
              </a:tr>
              <a:tr h="895350">
                <a:tc>
                  <a:txBody>
                    <a:bodyPr/>
                    <a:lstStyle/>
                    <a:p>
                      <a:r>
                        <a:rPr sz="1725" b="1">
                          <a:solidFill>
                            <a:srgbClr val="241634"/>
                          </a:solidFill>
                          <a:latin typeface="Avenir Next"/>
                          <a:ea typeface="Avenir Next"/>
                          <a:cs typeface="Avenir Next"/>
                        </a:rPr>
                        <a:t>InCreditble</a:t>
                      </a:r>
                    </a:p>
                    <a:p>
                      <a:r>
                        <a:rPr sz="1725" b="1">
                          <a:solidFill>
                            <a:srgbClr val="241634"/>
                          </a:solidFill>
                          <a:latin typeface="Avenir Next"/>
                          <a:ea typeface="Avenir Next"/>
                          <a:cs typeface="Avenir Next"/>
                        </a:rPr>
                        <a:t>prototype</a:t>
                      </a:r>
                    </a:p>
                  </a:txBody>
                  <a:tcPr marL="123825" marR="123825" marT="133350" marB="76200" anchor="ctr">
                    <a:solidFill>
                      <a:srgbClr val="D9FF66"/>
                    </a:solidFill>
                  </a:tcPr>
                </a:tc>
                <a:tc>
                  <a:txBody>
                    <a:bodyPr/>
                    <a:lstStyle/>
                    <a:p>
                      <a:r>
                        <a:rPr sz="1725" b="1">
                          <a:solidFill>
                            <a:srgbClr val="241634"/>
                          </a:solidFill>
                          <a:latin typeface="Avenir Next"/>
                          <a:ea typeface="Avenir Next"/>
                          <a:cs typeface="Avenir Next"/>
                        </a:rPr>
                        <a:t>Up to 3 explained matches</a:t>
                      </a:r>
                    </a:p>
                    <a:p>
                      <a:r>
                        <a:rPr sz="1725" b="1">
                          <a:solidFill>
                            <a:srgbClr val="241634"/>
                          </a:solidFill>
                          <a:latin typeface="Avenir Next"/>
                          <a:ea typeface="Avenir Next"/>
                          <a:cs typeface="Avenir Next"/>
                        </a:rPr>
                        <a:t>User approves each trade</a:t>
                      </a:r>
                    </a:p>
                  </a:txBody>
                  <a:tcPr marL="123825" marR="123825" marT="133350" marB="76200" anchor="ctr">
                    <a:solidFill>
                      <a:srgbClr val="D9FF66"/>
                    </a:solidFill>
                  </a:tcPr>
                </a:tc>
                <a:tc>
                  <a:txBody>
                    <a:bodyPr/>
                    <a:lstStyle/>
                    <a:p>
                      <a:r>
                        <a:rPr sz="1725" b="1">
                          <a:solidFill>
                            <a:srgbClr val="241634"/>
                          </a:solidFill>
                          <a:latin typeface="Avenir Next"/>
                          <a:ea typeface="Avenir Next"/>
                          <a:cs typeface="Avenir Next"/>
                        </a:rPr>
                        <a:t>$10 simulated order</a:t>
                      </a:r>
                    </a:p>
                  </a:txBody>
                  <a:tcPr marL="123825" marR="123825" marT="133350" marB="76200" anchor="ctr">
                    <a:solidFill>
                      <a:srgbClr val="D9FF66"/>
                    </a:solidFill>
                  </a:tcPr>
                </a:tc>
              </a:tr>
            </a:tbl>
          </a:graphicData>
        </a:graphic>
      </p:graphicFrame>
      <p:sp>
        <p:nvSpPr>
          <p:cNvPr id="4" name="Official product pages, Oct 10, 2026. InCreditbl">
            <a:extLst xmlns:a="http://schemas.openxmlformats.org/drawingml/2006/main">
              <a:ext uri="{FF2B5EF4-FFF2-40B4-BE49-F238E27FC236}">
                <a16:creationId xmlns:a16="http://schemas.microsoft.com/office/drawing/2014/main" id="{37EFBA57-9F8D-453E-B85F-0430E5958B7F}"/>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Official product pages, Oct 10, 2026. InCreditble is a prototype. Sources in speaker notes.</a:t>
            </a:r>
          </a:p>
        </p:txBody>
      </p:sp>
      <p:sp>
        <p:nvSpPr>
          <p:cNvPr id="5" name="04">
            <a:extLst xmlns:a="http://schemas.openxmlformats.org/drawingml/2006/main">
              <a:ext uri="{FF2B5EF4-FFF2-40B4-BE49-F238E27FC236}">
                <a16:creationId xmlns:a16="http://schemas.microsoft.com/office/drawing/2014/main" id="{1ED1A190-8714-4F07-ACEF-DA7A2F1077F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05</a:t>
            </a:r>
          </a:p>
        </p:txBody>
      </p:sp>
    </p:spTree>
    <p:extLst>
      <p:ext uri="{BB962C8B-B14F-4D97-AF65-F5344CB8AC3E}">
        <p14:creationId xmlns:p14="http://schemas.microsoft.com/office/powerpoint/2010/main" val="441810597"/>
      </p:ext>
    </p:extLst>
  </p:cSld>
</p:sld>
</file>

<file path=ppt/slides/slide6.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4" name="How it works">
            <a:extLst xmlns:a="http://schemas.openxmlformats.org/drawingml/2006/main">
              <a:ext uri="{FF2B5EF4-FFF2-40B4-BE49-F238E27FC236}">
                <a16:creationId xmlns:a16="http://schemas.microsoft.com/office/drawing/2014/main" id="{CE3097EF-7A3F-420E-9FF2-8A6909DED89E}"/>
              </a:ext>
            </a:extLst>
          </p:cNvPr>
          <p:cNvSpPr>
            <a:spLocks xmlns:a="http://schemas.openxmlformats.org/drawingml/2006/main" noGrp="1"/>
          </p:cNvSpPr>
          <p:nvPr/>
        </p:nvSpPr>
        <p:spPr>
          <a:xfrm xmlns:a="http://schemas.openxmlformats.org/drawingml/2006/main">
            <a:off x="552450" y="523875"/>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75" b="1">
                <a:solidFill>
                  <a:srgbClr val="241634"/>
                </a:solidFill>
                <a:latin typeface="Avenir Next"/>
                <a:ea typeface="Avenir Next"/>
                <a:cs typeface="Avenir Next"/>
              </a:defRPr>
            </a:defPPr>
          </a:lstStyle>
          <a:p xmlns:a="http://schemas.openxmlformats.org/drawingml/2006/main">
            <a:pPr>
              <a:defRPr sz="4275" b="1">
                <a:solidFill>
                  <a:srgbClr val="241634"/>
                </a:solidFill>
                <a:latin typeface="Avenir Next"/>
                <a:ea typeface="Avenir Next"/>
                <a:cs typeface="Avenir Next"/>
              </a:defRPr>
            </a:pPr>
            <a:r>
              <a:rPr sz="4275" b="1">
                <a:solidFill>
                  <a:srgbClr val="241634"/>
                </a:solidFill>
                <a:latin typeface="Avenir Next"/>
                <a:ea typeface="Avenir Next"/>
                <a:cs typeface="Avenir Next"/>
              </a:rPr>
              <a:t>How it works</a:t>
            </a:r>
          </a:p>
        </p:txBody>
      </p:sp>
      <p:sp>
        <p:nvSpPr>
          <p:cNvPr id="2" name="Goals in. Explained choices out.">
            <a:extLst xmlns:a="http://schemas.openxmlformats.org/drawingml/2006/main">
              <a:ext uri="{FF2B5EF4-FFF2-40B4-BE49-F238E27FC236}">
                <a16:creationId xmlns:a16="http://schemas.microsoft.com/office/drawing/2014/main" id="{F45202D7-A90A-4881-AC1B-07AE6C42B641}"/>
              </a:ext>
            </a:extLst>
          </p:cNvPr>
          <p:cNvSpPr>
            <a:spLocks xmlns:a="http://schemas.openxmlformats.org/drawingml/2006/main" noGrp="1"/>
          </p:cNvSpPr>
          <p:nvPr/>
        </p:nvSpPr>
        <p:spPr>
          <a:xfrm xmlns:a="http://schemas.openxmlformats.org/drawingml/2006/main">
            <a:off x="581025" y="1476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7445FF"/>
                </a:solidFill>
                <a:latin typeface="Avenir Next"/>
                <a:ea typeface="Avenir Next"/>
                <a:cs typeface="Avenir Next"/>
              </a:defRPr>
            </a:defPPr>
          </a:lstStyle>
          <a:p xmlns:a="http://schemas.openxmlformats.org/drawingml/2006/main">
            <a:pPr>
              <a:defRPr sz="2250" b="0">
                <a:solidFill>
                  <a:srgbClr val="7445FF"/>
                </a:solidFill>
                <a:latin typeface="Avenir Next"/>
                <a:ea typeface="Avenir Next"/>
                <a:cs typeface="Avenir Next"/>
              </a:defRPr>
            </a:pPr>
            <a:r>
              <a:rPr sz="2250" b="0">
                <a:solidFill>
                  <a:srgbClr val="7445FF"/>
                </a:solidFill>
                <a:latin typeface="Avenir Next"/>
                <a:ea typeface="Avenir Next"/>
                <a:cs typeface="Avenir Next"/>
              </a:rPr>
              <a:t>Goals in. Explained choices out.</a:t>
            </a:r>
          </a:p>
        </p:txBody>
      </p:sp>
      <p:sp>
        <p:nvSpPr>
          <p:cNvPr id="3" name="01">
            <a:extLst xmlns:a="http://schemas.openxmlformats.org/drawingml/2006/main">
              <a:ext uri="{FF2B5EF4-FFF2-40B4-BE49-F238E27FC236}">
                <a16:creationId xmlns:a16="http://schemas.microsoft.com/office/drawing/2014/main" id="{EAB7D0C1-ECE0-4879-A0E3-694523E9DBFB}"/>
              </a:ext>
            </a:extLst>
          </p:cNvPr>
          <p:cNvSpPr>
            <a:spLocks xmlns:a="http://schemas.openxmlformats.org/drawingml/2006/main" noGrp="1"/>
          </p:cNvSpPr>
          <p:nvPr/>
        </p:nvSpPr>
        <p:spPr>
          <a:xfrm xmlns:a="http://schemas.openxmlformats.org/drawingml/2006/main">
            <a:off x="571500" y="27241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025" b="1">
                <a:solidFill>
                  <a:srgbClr val="7445FF"/>
                </a:solidFill>
                <a:latin typeface="Avenir Next"/>
                <a:ea typeface="Avenir Next"/>
                <a:cs typeface="Avenir Next"/>
              </a:defRPr>
            </a:defPPr>
          </a:lstStyle>
          <a:p xmlns:a="http://schemas.openxmlformats.org/drawingml/2006/main">
            <a:pPr>
              <a:defRPr sz="5025" b="1">
                <a:solidFill>
                  <a:srgbClr val="7445FF"/>
                </a:solidFill>
                <a:latin typeface="Avenir Next"/>
                <a:ea typeface="Avenir Next"/>
                <a:cs typeface="Avenir Next"/>
              </a:defRPr>
            </a:pPr>
            <a:r>
              <a:rPr sz="5025" b="1">
                <a:solidFill>
                  <a:srgbClr val="7445FF"/>
                </a:solidFill>
                <a:latin typeface="Avenir Next"/>
                <a:ea typeface="Avenir Next"/>
                <a:cs typeface="Avenir Next"/>
              </a:rPr>
              <a:t>01</a:t>
            </a:r>
          </a:p>
        </p:txBody>
      </p:sp>
      <p:sp>
        <p:nvSpPr>
          <p:cNvPr id="4" name="Filter">
            <a:extLst xmlns:a="http://schemas.openxmlformats.org/drawingml/2006/main">
              <a:ext uri="{FF2B5EF4-FFF2-40B4-BE49-F238E27FC236}">
                <a16:creationId xmlns:a16="http://schemas.microsoft.com/office/drawing/2014/main" id="{873A9336-C289-45A2-9BA8-3C941906DE06}"/>
              </a:ext>
            </a:extLst>
          </p:cNvPr>
          <p:cNvSpPr>
            <a:spLocks xmlns:a="http://schemas.openxmlformats.org/drawingml/2006/main" noGrp="1"/>
          </p:cNvSpPr>
          <p:nvPr/>
        </p:nvSpPr>
        <p:spPr>
          <a:xfrm xmlns:a="http://schemas.openxmlformats.org/drawingml/2006/main">
            <a:off x="571500" y="3781425"/>
            <a:ext cx="3486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1634"/>
                </a:solidFill>
                <a:latin typeface="Avenir Next"/>
                <a:ea typeface="Avenir Next"/>
                <a:cs typeface="Avenir Next"/>
              </a:defRPr>
            </a:defPPr>
          </a:lstStyle>
          <a:p xmlns:a="http://schemas.openxmlformats.org/drawingml/2006/main">
            <a:pPr>
              <a:defRPr sz="2400" b="1">
                <a:solidFill>
                  <a:srgbClr val="241634"/>
                </a:solidFill>
                <a:latin typeface="Avenir Next"/>
                <a:ea typeface="Avenir Next"/>
                <a:cs typeface="Avenir Next"/>
              </a:defRPr>
            </a:pPr>
            <a:r>
              <a:rPr sz="2400" b="1">
                <a:solidFill>
                  <a:srgbClr val="241634"/>
                </a:solidFill>
                <a:latin typeface="Avenir Next"/>
                <a:ea typeface="Avenir Next"/>
                <a:cs typeface="Avenir Next"/>
              </a:rPr>
              <a:t>Filter</a:t>
            </a:r>
          </a:p>
        </p:txBody>
      </p:sp>
      <p:sp>
        <p:nvSpPr>
          <p:cNvPr id="5" name="Yield, timeframe, industry&#10;and separate risk lim">
            <a:extLst xmlns:a="http://schemas.openxmlformats.org/drawingml/2006/main">
              <a:ext uri="{FF2B5EF4-FFF2-40B4-BE49-F238E27FC236}">
                <a16:creationId xmlns:a16="http://schemas.microsoft.com/office/drawing/2014/main" id="{006204F8-755F-46AE-A800-3A233A13ACED}"/>
              </a:ext>
            </a:extLst>
          </p:cNvPr>
          <p:cNvSpPr>
            <a:spLocks xmlns:a="http://schemas.openxmlformats.org/drawingml/2006/main" noGrp="1"/>
          </p:cNvSpPr>
          <p:nvPr/>
        </p:nvSpPr>
        <p:spPr>
          <a:xfrm xmlns:a="http://schemas.openxmlformats.org/drawingml/2006/main">
            <a:off x="571500" y="4514850"/>
            <a:ext cx="347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786E82"/>
                </a:solidFill>
                <a:latin typeface="Avenir Next"/>
                <a:ea typeface="Avenir Next"/>
                <a:cs typeface="Avenir Next"/>
              </a:defRPr>
            </a:defPPr>
          </a:lstStyle>
          <a:p xmlns:a="http://schemas.openxmlformats.org/drawingml/2006/main">
            <a:pPr>
              <a:defRPr sz="1875" b="0">
                <a:solidFill>
                  <a:srgbClr val="786E82"/>
                </a:solidFill>
                <a:latin typeface="Avenir Next"/>
                <a:ea typeface="Avenir Next"/>
                <a:cs typeface="Avenir Next"/>
              </a:defRPr>
            </a:pPr>
            <a:r>
              <a:rPr sz="1875" b="0">
                <a:solidFill>
                  <a:srgbClr val="786E82"/>
                </a:solidFill>
                <a:latin typeface="Avenir Next"/>
                <a:ea typeface="Avenir Next"/>
                <a:cs typeface="Avenir Next"/>
              </a:rPr>
              <a:t>Yield, timeframe, industry</a:t>
            </a:r>
          </a:p>
          <a:p xmlns:a="http://schemas.openxmlformats.org/drawingml/2006/main">
            <a:pPr>
              <a:defRPr sz="1875" b="0">
                <a:solidFill>
                  <a:srgbClr val="786E82"/>
                </a:solidFill>
                <a:latin typeface="Avenir Next"/>
                <a:ea typeface="Avenir Next"/>
                <a:cs typeface="Avenir Next"/>
              </a:defRPr>
            </a:pPr>
            <a:r>
              <a:rPr sz="1875" b="0">
                <a:solidFill>
                  <a:srgbClr val="786E82"/>
                </a:solidFill>
                <a:latin typeface="Avenir Next"/>
                <a:ea typeface="Avenir Next"/>
                <a:cs typeface="Avenir Next"/>
              </a:rPr>
              <a:t>and separate risk limits</a:t>
            </a:r>
          </a:p>
        </p:txBody>
      </p:sp>
      <p:sp>
        <p:nvSpPr>
          <p:cNvPr id="6" name="02">
            <a:extLst xmlns:a="http://schemas.openxmlformats.org/drawingml/2006/main">
              <a:ext uri="{FF2B5EF4-FFF2-40B4-BE49-F238E27FC236}">
                <a16:creationId xmlns:a16="http://schemas.microsoft.com/office/drawing/2014/main" id="{B3B6A7FB-1E7C-43E1-9CAF-997D1D52B38E}"/>
              </a:ext>
            </a:extLst>
          </p:cNvPr>
          <p:cNvSpPr>
            <a:spLocks xmlns:a="http://schemas.openxmlformats.org/drawingml/2006/main" noGrp="1"/>
          </p:cNvSpPr>
          <p:nvPr/>
        </p:nvSpPr>
        <p:spPr>
          <a:xfrm xmlns:a="http://schemas.openxmlformats.org/drawingml/2006/main">
            <a:off x="4400550" y="27241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025" b="1">
                <a:solidFill>
                  <a:srgbClr val="7445FF"/>
                </a:solidFill>
                <a:latin typeface="Avenir Next"/>
                <a:ea typeface="Avenir Next"/>
                <a:cs typeface="Avenir Next"/>
              </a:defRPr>
            </a:defPPr>
          </a:lstStyle>
          <a:p xmlns:a="http://schemas.openxmlformats.org/drawingml/2006/main">
            <a:pPr>
              <a:defRPr sz="5025" b="1">
                <a:solidFill>
                  <a:srgbClr val="7445FF"/>
                </a:solidFill>
                <a:latin typeface="Avenir Next"/>
                <a:ea typeface="Avenir Next"/>
                <a:cs typeface="Avenir Next"/>
              </a:defRPr>
            </a:pPr>
            <a:r>
              <a:rPr sz="5025" b="1">
                <a:solidFill>
                  <a:srgbClr val="7445FF"/>
                </a:solidFill>
                <a:latin typeface="Avenir Next"/>
                <a:ea typeface="Avenir Next"/>
                <a:cs typeface="Avenir Next"/>
              </a:rPr>
              <a:t>02</a:t>
            </a:r>
          </a:p>
        </p:txBody>
      </p:sp>
      <p:sp>
        <p:nvSpPr>
          <p:cNvPr id="7" name="Rank &amp; explain">
            <a:extLst xmlns:a="http://schemas.openxmlformats.org/drawingml/2006/main">
              <a:ext uri="{FF2B5EF4-FFF2-40B4-BE49-F238E27FC236}">
                <a16:creationId xmlns:a16="http://schemas.microsoft.com/office/drawing/2014/main" id="{DB51B347-46F6-4737-864C-1D2CC6AA2932}"/>
              </a:ext>
            </a:extLst>
          </p:cNvPr>
          <p:cNvSpPr>
            <a:spLocks xmlns:a="http://schemas.openxmlformats.org/drawingml/2006/main" noGrp="1"/>
          </p:cNvSpPr>
          <p:nvPr/>
        </p:nvSpPr>
        <p:spPr>
          <a:xfrm xmlns:a="http://schemas.openxmlformats.org/drawingml/2006/main">
            <a:off x="4400550" y="3781425"/>
            <a:ext cx="3486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1634"/>
                </a:solidFill>
                <a:latin typeface="Avenir Next"/>
                <a:ea typeface="Avenir Next"/>
                <a:cs typeface="Avenir Next"/>
              </a:defRPr>
            </a:defPPr>
          </a:lstStyle>
          <a:p xmlns:a="http://schemas.openxmlformats.org/drawingml/2006/main">
            <a:pPr>
              <a:defRPr sz="2400" b="1">
                <a:solidFill>
                  <a:srgbClr val="241634"/>
                </a:solidFill>
                <a:latin typeface="Avenir Next"/>
                <a:ea typeface="Avenir Next"/>
                <a:cs typeface="Avenir Next"/>
              </a:defRPr>
            </a:pPr>
            <a:r>
              <a:rPr sz="2400" b="1">
                <a:solidFill>
                  <a:srgbClr val="241634"/>
                </a:solidFill>
                <a:latin typeface="Avenir Next"/>
                <a:ea typeface="Avenir Next"/>
                <a:cs typeface="Avenir Next"/>
              </a:rPr>
              <a:t>Rank &amp; explain</a:t>
            </a:r>
          </a:p>
        </p:txBody>
      </p:sp>
      <p:sp>
        <p:nvSpPr>
          <p:cNvPr id="8" name="Up to three matches,&#10;with company context and ri">
            <a:extLst xmlns:a="http://schemas.openxmlformats.org/drawingml/2006/main">
              <a:ext uri="{FF2B5EF4-FFF2-40B4-BE49-F238E27FC236}">
                <a16:creationId xmlns:a16="http://schemas.microsoft.com/office/drawing/2014/main" id="{C740B087-831E-4A07-959C-CFC39E544C8A}"/>
              </a:ext>
            </a:extLst>
          </p:cNvPr>
          <p:cNvSpPr>
            <a:spLocks xmlns:a="http://schemas.openxmlformats.org/drawingml/2006/main" noGrp="1"/>
          </p:cNvSpPr>
          <p:nvPr/>
        </p:nvSpPr>
        <p:spPr>
          <a:xfrm xmlns:a="http://schemas.openxmlformats.org/drawingml/2006/main">
            <a:off x="4400550" y="4514850"/>
            <a:ext cx="347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786E82"/>
                </a:solidFill>
                <a:latin typeface="Avenir Next"/>
                <a:ea typeface="Avenir Next"/>
                <a:cs typeface="Avenir Next"/>
              </a:defRPr>
            </a:defPPr>
          </a:lstStyle>
          <a:p xmlns:a="http://schemas.openxmlformats.org/drawingml/2006/main">
            <a:pPr>
              <a:defRPr sz="1875" b="0">
                <a:solidFill>
                  <a:srgbClr val="786E82"/>
                </a:solidFill>
                <a:latin typeface="Avenir Next"/>
                <a:ea typeface="Avenir Next"/>
                <a:cs typeface="Avenir Next"/>
              </a:defRPr>
            </a:pPr>
            <a:r>
              <a:rPr sz="1875" b="0">
                <a:solidFill>
                  <a:srgbClr val="786E82"/>
                </a:solidFill>
                <a:latin typeface="Avenir Next"/>
                <a:ea typeface="Avenir Next"/>
                <a:cs typeface="Avenir Next"/>
              </a:rPr>
              <a:t>Up to three matches,</a:t>
            </a:r>
          </a:p>
          <a:p xmlns:a="http://schemas.openxmlformats.org/drawingml/2006/main">
            <a:pPr>
              <a:defRPr sz="1875" b="0">
                <a:solidFill>
                  <a:srgbClr val="786E82"/>
                </a:solidFill>
                <a:latin typeface="Avenir Next"/>
                <a:ea typeface="Avenir Next"/>
                <a:cs typeface="Avenir Next"/>
              </a:defRPr>
            </a:pPr>
            <a:r>
              <a:rPr sz="1875" b="0">
                <a:solidFill>
                  <a:srgbClr val="786E82"/>
                </a:solidFill>
                <a:latin typeface="Avenir Next"/>
                <a:ea typeface="Avenir Next"/>
                <a:cs typeface="Avenir Next"/>
              </a:rPr>
              <a:t>with company context and risks</a:t>
            </a:r>
          </a:p>
        </p:txBody>
      </p:sp>
      <p:sp>
        <p:nvSpPr>
          <p:cNvPr id="9" name="03">
            <a:extLst xmlns:a="http://schemas.openxmlformats.org/drawingml/2006/main">
              <a:ext uri="{FF2B5EF4-FFF2-40B4-BE49-F238E27FC236}">
                <a16:creationId xmlns:a16="http://schemas.microsoft.com/office/drawing/2014/main" id="{1E11487E-D2DE-4C5A-81E6-C6F870DBEBAD}"/>
              </a:ext>
            </a:extLst>
          </p:cNvPr>
          <p:cNvSpPr>
            <a:spLocks xmlns:a="http://schemas.openxmlformats.org/drawingml/2006/main" noGrp="1"/>
          </p:cNvSpPr>
          <p:nvPr/>
        </p:nvSpPr>
        <p:spPr>
          <a:xfrm xmlns:a="http://schemas.openxmlformats.org/drawingml/2006/main">
            <a:off x="8229600" y="27241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025" b="1">
                <a:solidFill>
                  <a:srgbClr val="7445FF"/>
                </a:solidFill>
                <a:latin typeface="Avenir Next"/>
                <a:ea typeface="Avenir Next"/>
                <a:cs typeface="Avenir Next"/>
              </a:defRPr>
            </a:defPPr>
          </a:lstStyle>
          <a:p xmlns:a="http://schemas.openxmlformats.org/drawingml/2006/main">
            <a:pPr>
              <a:defRPr sz="5025" b="1">
                <a:solidFill>
                  <a:srgbClr val="7445FF"/>
                </a:solidFill>
                <a:latin typeface="Avenir Next"/>
                <a:ea typeface="Avenir Next"/>
                <a:cs typeface="Avenir Next"/>
              </a:defRPr>
            </a:pPr>
            <a:r>
              <a:rPr sz="5025" b="1">
                <a:solidFill>
                  <a:srgbClr val="7445FF"/>
                </a:solidFill>
                <a:latin typeface="Avenir Next"/>
                <a:ea typeface="Avenir Next"/>
                <a:cs typeface="Avenir Next"/>
              </a:rPr>
              <a:t>03</a:t>
            </a:r>
          </a:p>
        </p:txBody>
      </p:sp>
      <p:sp>
        <p:nvSpPr>
          <p:cNvPr id="10" name="Review &amp; approve">
            <a:extLst xmlns:a="http://schemas.openxmlformats.org/drawingml/2006/main">
              <a:ext uri="{FF2B5EF4-FFF2-40B4-BE49-F238E27FC236}">
                <a16:creationId xmlns:a16="http://schemas.microsoft.com/office/drawing/2014/main" id="{C844B0F6-F3B8-4CBD-A688-4C53092E053D}"/>
              </a:ext>
            </a:extLst>
          </p:cNvPr>
          <p:cNvSpPr>
            <a:spLocks xmlns:a="http://schemas.openxmlformats.org/drawingml/2006/main" noGrp="1"/>
          </p:cNvSpPr>
          <p:nvPr/>
        </p:nvSpPr>
        <p:spPr>
          <a:xfrm xmlns:a="http://schemas.openxmlformats.org/drawingml/2006/main">
            <a:off x="8229600" y="3781425"/>
            <a:ext cx="3486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1634"/>
                </a:solidFill>
                <a:latin typeface="Avenir Next"/>
                <a:ea typeface="Avenir Next"/>
                <a:cs typeface="Avenir Next"/>
              </a:defRPr>
            </a:defPPr>
          </a:lstStyle>
          <a:p xmlns:a="http://schemas.openxmlformats.org/drawingml/2006/main">
            <a:pPr>
              <a:defRPr sz="2400" b="1">
                <a:solidFill>
                  <a:srgbClr val="241634"/>
                </a:solidFill>
                <a:latin typeface="Avenir Next"/>
                <a:ea typeface="Avenir Next"/>
                <a:cs typeface="Avenir Next"/>
              </a:defRPr>
            </a:pPr>
            <a:r>
              <a:rPr sz="2400" b="1">
                <a:solidFill>
                  <a:srgbClr val="241634"/>
                </a:solidFill>
                <a:latin typeface="Avenir Next"/>
                <a:ea typeface="Avenir Next"/>
                <a:cs typeface="Avenir Next"/>
              </a:rPr>
              <a:t>Review &amp; approve</a:t>
            </a:r>
          </a:p>
        </p:txBody>
      </p:sp>
      <p:sp>
        <p:nvSpPr>
          <p:cNvPr id="11" name="Price and fractional amount,&#10;then an explicit us">
            <a:extLst xmlns:a="http://schemas.openxmlformats.org/drawingml/2006/main">
              <a:ext uri="{FF2B5EF4-FFF2-40B4-BE49-F238E27FC236}">
                <a16:creationId xmlns:a16="http://schemas.microsoft.com/office/drawing/2014/main" id="{6FD5B21F-D0F5-44DD-9187-A673D76057D1}"/>
              </a:ext>
            </a:extLst>
          </p:cNvPr>
          <p:cNvSpPr>
            <a:spLocks xmlns:a="http://schemas.openxmlformats.org/drawingml/2006/main" noGrp="1"/>
          </p:cNvSpPr>
          <p:nvPr/>
        </p:nvSpPr>
        <p:spPr>
          <a:xfrm xmlns:a="http://schemas.openxmlformats.org/drawingml/2006/main">
            <a:off x="8229600" y="4514850"/>
            <a:ext cx="347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786E82"/>
                </a:solidFill>
                <a:latin typeface="Avenir Next"/>
                <a:ea typeface="Avenir Next"/>
                <a:cs typeface="Avenir Next"/>
              </a:defRPr>
            </a:defPPr>
          </a:lstStyle>
          <a:p xmlns:a="http://schemas.openxmlformats.org/drawingml/2006/main">
            <a:pPr>
              <a:defRPr sz="1875" b="0">
                <a:solidFill>
                  <a:srgbClr val="786E82"/>
                </a:solidFill>
                <a:latin typeface="Avenir Next"/>
                <a:ea typeface="Avenir Next"/>
                <a:cs typeface="Avenir Next"/>
              </a:defRPr>
            </a:pPr>
            <a:r>
              <a:rPr sz="1875" b="0">
                <a:solidFill>
                  <a:srgbClr val="786E82"/>
                </a:solidFill>
                <a:latin typeface="Avenir Next"/>
                <a:ea typeface="Avenir Next"/>
                <a:cs typeface="Avenir Next"/>
              </a:rPr>
              <a:t>Price and fractional amount,</a:t>
            </a:r>
          </a:p>
          <a:p xmlns:a="http://schemas.openxmlformats.org/drawingml/2006/main">
            <a:pPr>
              <a:defRPr sz="1875" b="0">
                <a:solidFill>
                  <a:srgbClr val="786E82"/>
                </a:solidFill>
                <a:latin typeface="Avenir Next"/>
                <a:ea typeface="Avenir Next"/>
                <a:cs typeface="Avenir Next"/>
              </a:defRPr>
            </a:pPr>
            <a:r>
              <a:rPr sz="1875" b="0">
                <a:solidFill>
                  <a:srgbClr val="786E82"/>
                </a:solidFill>
                <a:latin typeface="Avenir Next"/>
                <a:ea typeface="Avenir Next"/>
                <a:cs typeface="Avenir Next"/>
              </a:rPr>
              <a:t>then an explicit user decision</a:t>
            </a:r>
          </a:p>
        </p:txBody>
      </p:sp>
      <p:sp>
        <p:nvSpPr>
          <p:cNvPr id="12" name="Current prototype: deterministic matching and sc">
            <a:extLst xmlns:a="http://schemas.openxmlformats.org/drawingml/2006/main">
              <a:ext uri="{FF2B5EF4-FFF2-40B4-BE49-F238E27FC236}">
                <a16:creationId xmlns:a16="http://schemas.microsoft.com/office/drawing/2014/main" id="{C922E385-D6B7-4291-BE17-E24EE216B9AB}"/>
              </a:ext>
            </a:extLst>
          </p:cNvPr>
          <p:cNvSpPr>
            <a:spLocks xmlns:a="http://schemas.openxmlformats.org/drawingml/2006/main" noGrp="1"/>
          </p:cNvSpPr>
          <p:nvPr/>
        </p:nvSpPr>
        <p:spPr>
          <a:xfrm xmlns:a="http://schemas.openxmlformats.org/drawingml/2006/main">
            <a:off x="571500" y="636270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Current prototype: deterministic matching and scripted explanations. Execution and accounts are simulated.</a:t>
            </a:r>
          </a:p>
        </p:txBody>
      </p:sp>
      <p:sp>
        <p:nvSpPr>
          <p:cNvPr id="13" name="06">
            <a:extLst xmlns:a="http://schemas.openxmlformats.org/drawingml/2006/main">
              <a:ext uri="{FF2B5EF4-FFF2-40B4-BE49-F238E27FC236}">
                <a16:creationId xmlns:a16="http://schemas.microsoft.com/office/drawing/2014/main" id="{903FFD6A-4CB2-4491-ABEA-D85741674A8F}"/>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06</a:t>
            </a:r>
          </a:p>
        </p:txBody>
      </p:sp>
    </p:spTree>
    <p:extLst>
      <p:ext uri="{BB962C8B-B14F-4D97-AF65-F5344CB8AC3E}">
        <p14:creationId xmlns:p14="http://schemas.microsoft.com/office/powerpoint/2010/main" val="1784790009"/>
      </p:ext>
    </p:extLst>
  </p:cSld>
</p:sld>
</file>

<file path=ppt/slides/slide7.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9" name="Early traction">
            <a:extLst xmlns:a="http://schemas.openxmlformats.org/drawingml/2006/main">
              <a:ext uri="{FF2B5EF4-FFF2-40B4-BE49-F238E27FC236}">
                <a16:creationId xmlns:a16="http://schemas.microsoft.com/office/drawing/2014/main" id="{6737939E-D88E-488C-8F25-8075210C6313}"/>
              </a:ext>
            </a:extLst>
          </p:cNvPr>
          <p:cNvSpPr>
            <a:spLocks xmlns:a="http://schemas.openxmlformats.org/drawingml/2006/main" noGrp="1"/>
          </p:cNvSpPr>
          <p:nvPr/>
        </p:nvSpPr>
        <p:spPr>
          <a:xfrm xmlns:a="http://schemas.openxmlformats.org/drawingml/2006/main">
            <a:off x="552450" y="514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FFFDF5"/>
                </a:solidFill>
                <a:latin typeface="Avenir Next"/>
                <a:ea typeface="Avenir Next"/>
                <a:cs typeface="Avenir Next"/>
              </a:defRPr>
            </a:defPPr>
          </a:lstStyle>
          <a:p xmlns:a="http://schemas.openxmlformats.org/drawingml/2006/main">
            <a:pPr>
              <a:buNone/>
              <a:defRPr sz="3675" b="1">
                <a:solidFill>
                  <a:srgbClr val="FFFDF5"/>
                </a:solidFill>
                <a:latin typeface="Avenir Next"/>
                <a:ea typeface="Avenir Next"/>
                <a:cs typeface="Avenir Next"/>
              </a:defRPr>
            </a:pPr>
            <a:r>
              <a:rPr sz="3675" b="1">
                <a:solidFill>
                  <a:srgbClr val="FFFDF5"/>
                </a:solidFill>
                <a:latin typeface="Avenir Next"/>
                <a:ea typeface="Avenir Next"/>
                <a:cs typeface="Avenir Next"/>
              </a:rPr>
              <a:t>Early traction</a:t>
            </a:r>
          </a:p>
        </p:txBody>
      </p:sp>
      <p:sp>
        <p:nvSpPr>
          <p:cNvPr id="2" name="10+">
            <a:extLst xmlns:a="http://schemas.openxmlformats.org/drawingml/2006/main">
              <a:ext uri="{FF2B5EF4-FFF2-40B4-BE49-F238E27FC236}">
                <a16:creationId xmlns:a16="http://schemas.microsoft.com/office/drawing/2014/main" id="{21246693-E1C7-47CF-BFAB-BB64B08BEADB}"/>
              </a:ext>
            </a:extLst>
          </p:cNvPr>
          <p:cNvSpPr>
            <a:spLocks xmlns:a="http://schemas.openxmlformats.org/drawingml/2006/main" noGrp="1"/>
          </p:cNvSpPr>
          <p:nvPr/>
        </p:nvSpPr>
        <p:spPr>
          <a:xfrm xmlns:a="http://schemas.openxmlformats.org/drawingml/2006/main">
            <a:off x="504825" y="1733550"/>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675" b="1">
                <a:solidFill>
                  <a:srgbClr val="D9FF66"/>
                </a:solidFill>
                <a:latin typeface="Avenir Next"/>
                <a:ea typeface="Avenir Next"/>
                <a:cs typeface="Avenir Next"/>
              </a:defRPr>
            </a:defPPr>
          </a:lstStyle>
          <a:p xmlns:a="http://schemas.openxmlformats.org/drawingml/2006/main">
            <a:pPr>
              <a:buNone/>
              <a:defRPr sz="12675" b="1">
                <a:solidFill>
                  <a:srgbClr val="D9FF66"/>
                </a:solidFill>
                <a:latin typeface="Avenir Next"/>
                <a:ea typeface="Avenir Next"/>
                <a:cs typeface="Avenir Next"/>
              </a:defRPr>
            </a:pPr>
            <a:r>
              <a:rPr sz="12675" b="1">
                <a:solidFill>
                  <a:srgbClr val="D9FF66"/>
                </a:solidFill>
                <a:latin typeface="Avenir Next"/>
                <a:ea typeface="Avenir Next"/>
                <a:cs typeface="Avenir Next"/>
              </a:rPr>
              <a:t>10+</a:t>
            </a:r>
          </a:p>
        </p:txBody>
      </p:sp>
      <p:sp>
        <p:nvSpPr>
          <p:cNvPr id="3" name="Customer discovery&#10;conversations">
            <a:extLst xmlns:a="http://schemas.openxmlformats.org/drawingml/2006/main">
              <a:ext uri="{FF2B5EF4-FFF2-40B4-BE49-F238E27FC236}">
                <a16:creationId xmlns:a16="http://schemas.microsoft.com/office/drawing/2014/main" id="{7E8ADBE8-C45E-4C63-8A28-72417263AC6C}"/>
              </a:ext>
            </a:extLst>
          </p:cNvPr>
          <p:cNvSpPr>
            <a:spLocks xmlns:a="http://schemas.openxmlformats.org/drawingml/2006/main" noGrp="1"/>
          </p:cNvSpPr>
          <p:nvPr/>
        </p:nvSpPr>
        <p:spPr>
          <a:xfrm xmlns:a="http://schemas.openxmlformats.org/drawingml/2006/main">
            <a:off x="619125" y="3933825"/>
            <a:ext cx="4714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FFFDF5"/>
                </a:solidFill>
                <a:latin typeface="Avenir Next"/>
                <a:ea typeface="Avenir Next"/>
                <a:cs typeface="Avenir Next"/>
              </a:defRPr>
            </a:defPPr>
          </a:lstStyle>
          <a:p xmlns:a="http://schemas.openxmlformats.org/drawingml/2006/main">
            <a:pPr>
              <a:buNone/>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Customer discovery</a:t>
            </a:r>
          </a:p>
          <a:p xmlns:a="http://schemas.openxmlformats.org/drawingml/2006/main">
            <a:pPr>
              <a:buNone/>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conversations</a:t>
            </a:r>
          </a:p>
        </p:txBody>
      </p:sp>
      <p:sp>
        <p:nvSpPr>
          <p:cNvPr id="4" name="Feedback narrowed the product&#10;to a focused bond ">
            <a:extLst xmlns:a="http://schemas.openxmlformats.org/drawingml/2006/main">
              <a:ext uri="{FF2B5EF4-FFF2-40B4-BE49-F238E27FC236}">
                <a16:creationId xmlns:a16="http://schemas.microsoft.com/office/drawing/2014/main" id="{D5AA59B8-7429-4ACB-BB78-FCF99927CFE4}"/>
              </a:ext>
            </a:extLst>
          </p:cNvPr>
          <p:cNvSpPr>
            <a:spLocks xmlns:a="http://schemas.openxmlformats.org/drawingml/2006/main" noGrp="1"/>
          </p:cNvSpPr>
          <p:nvPr/>
        </p:nvSpPr>
        <p:spPr>
          <a:xfrm xmlns:a="http://schemas.openxmlformats.org/drawingml/2006/main">
            <a:off x="619125" y="5238750"/>
            <a:ext cx="47720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8BAD8"/>
                </a:solidFill>
                <a:latin typeface="Avenir Next"/>
                <a:ea typeface="Avenir Next"/>
                <a:cs typeface="Avenir Next"/>
              </a:defRPr>
            </a:defPPr>
          </a:lstStyle>
          <a:p xmlns:a="http://schemas.openxmlformats.org/drawingml/2006/main">
            <a:pPr>
              <a:buNone/>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Feedback narrowed the product</a:t>
            </a:r>
          </a:p>
          <a:p xmlns:a="http://schemas.openxmlformats.org/drawingml/2006/main">
            <a:pPr>
              <a:buNone/>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to a focused bond trading flow.</a:t>
            </a:r>
          </a:p>
        </p:txBody>
      </p:sp>
      <p:pic>
        <p:nvPicPr>
          <p:cNvPr id="5" name="">
            <a:extLst xmlns:a="http://schemas.openxmlformats.org/drawingml/2006/main">
              <a:ext uri="{FF2B5EF4-FFF2-40B4-BE49-F238E27FC236}">
                <a16:creationId xmlns:a16="http://schemas.microsoft.com/office/drawing/2014/main" id="{E956AF80-A0F2-4E11-9981-F3D0C04107B6}"/>
              </a:ext>
            </a:extLst>
          </p:cNvPr>
          <p:cNvPicPr>
            <a:picLocks xmlns:a="http://schemas.openxmlformats.org/drawingml/2006/main" noChangeAspect="1"/>
          </p:cNvPicPr>
          <p:nvPr/>
        </p:nvPicPr>
        <p:blipFill>
          <a:blip xmlns:r="http://schemas.openxmlformats.org/officeDocument/2006/relationships" xmlns:a="http://schemas.openxmlformats.org/drawingml/2006/main" r:embed="Rf861fb6bd3ef47a2"/>
          <a:stretch xmlns:a="http://schemas.openxmlformats.org/drawingml/2006/main"/>
        </p:blipFill>
        <p:spPr>
          <a:xfrm xmlns:a="http://schemas.openxmlformats.org/drawingml/2006/main">
            <a:off x="5819775" y="1592478"/>
            <a:ext cx="5753100" cy="3854018"/>
          </a:xfrm>
          <a:prstGeom xmlns:a="http://schemas.openxmlformats.org/drawingml/2006/main" prst="rect">
            <a:avLst/>
          </a:prstGeom>
        </p:spPr>
      </p:pic>
      <p:sp>
        <p:nvSpPr>
          <p:cNvPr id="6" name="A working, end-to-end prototype">
            <a:extLst xmlns:a="http://schemas.openxmlformats.org/drawingml/2006/main">
              <a:ext uri="{FF2B5EF4-FFF2-40B4-BE49-F238E27FC236}">
                <a16:creationId xmlns:a16="http://schemas.microsoft.com/office/drawing/2014/main" id="{42D8C2DA-19FD-4432-84C4-BAAAFA46BFC2}"/>
              </a:ext>
            </a:extLst>
          </p:cNvPr>
          <p:cNvSpPr>
            <a:spLocks xmlns:a="http://schemas.openxmlformats.org/drawingml/2006/main" noGrp="1"/>
          </p:cNvSpPr>
          <p:nvPr/>
        </p:nvSpPr>
        <p:spPr>
          <a:xfrm xmlns:a="http://schemas.openxmlformats.org/drawingml/2006/main">
            <a:off x="5857875" y="5715000"/>
            <a:ext cx="5695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DF5"/>
                </a:solidFill>
                <a:latin typeface="Avenir Next"/>
                <a:ea typeface="Avenir Next"/>
                <a:cs typeface="Avenir Next"/>
              </a:defRPr>
            </a:defPPr>
          </a:lstStyle>
          <a:p xmlns:a="http://schemas.openxmlformats.org/drawingml/2006/main">
            <a:pPr>
              <a:buNone/>
              <a:defRPr sz="2175" b="1">
                <a:solidFill>
                  <a:srgbClr val="FFFDF5"/>
                </a:solidFill>
                <a:latin typeface="Avenir Next"/>
                <a:ea typeface="Avenir Next"/>
                <a:cs typeface="Avenir Next"/>
              </a:defRPr>
            </a:pPr>
            <a:r>
              <a:rPr sz="2175" b="1">
                <a:solidFill>
                  <a:srgbClr val="FFFDF5"/>
                </a:solidFill>
                <a:latin typeface="Avenir Next"/>
                <a:ea typeface="Avenir Next"/>
                <a:cs typeface="Avenir Next"/>
              </a:rPr>
              <a:t>A working, end-to-end prototype</a:t>
            </a:r>
          </a:p>
        </p:txBody>
      </p:sp>
      <p:sp>
        <p:nvSpPr>
          <p:cNvPr id="7" name="Founder-reported discovery count. Portfolio, con">
            <a:extLst xmlns:a="http://schemas.openxmlformats.org/drawingml/2006/main">
              <a:ext uri="{FF2B5EF4-FFF2-40B4-BE49-F238E27FC236}">
                <a16:creationId xmlns:a16="http://schemas.microsoft.com/office/drawing/2014/main" id="{6C00B028-0730-4CEF-841C-1414DCAA7E35}"/>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Founder-reported discovery count. Portfolio, connections and trades are simulated.</a:t>
            </a:r>
          </a:p>
        </p:txBody>
      </p:sp>
      <p:sp>
        <p:nvSpPr>
          <p:cNvPr id="8" name="08">
            <a:extLst xmlns:a="http://schemas.openxmlformats.org/drawingml/2006/main">
              <a:ext uri="{FF2B5EF4-FFF2-40B4-BE49-F238E27FC236}">
                <a16:creationId xmlns:a16="http://schemas.microsoft.com/office/drawing/2014/main" id="{15E4A8C4-4C8B-4E5F-8FA2-0A2AFF25903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07</a:t>
            </a:r>
          </a:p>
        </p:txBody>
      </p:sp>
    </p:spTree>
    <p:extLst>
      <p:ext uri="{BB962C8B-B14F-4D97-AF65-F5344CB8AC3E}">
        <p14:creationId xmlns:p14="http://schemas.microsoft.com/office/powerpoint/2010/main" val="213461964"/>
      </p:ext>
    </p:extLst>
  </p:cSld>
</p:sld>
</file>

<file path=ppt/slides/slide8.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9174080-3280-4C07-B2D9-9E90FF482636}"/>
              </a:ext>
            </a:extLst>
          </p:cNvPr>
          <p:cNvPicPr>
            <a:picLocks xmlns:a="http://schemas.openxmlformats.org/drawingml/2006/main" noChangeAspect="1"/>
          </p:cNvPicPr>
          <p:nvPr/>
        </p:nvPicPr>
        <p:blipFill>
          <a:blip xmlns:r="http://schemas.openxmlformats.org/officeDocument/2006/relationships" xmlns:a="http://schemas.openxmlformats.org/drawingml/2006/main" r:embed="Rcb7cfe7500ad4f2f"/>
          <a:stretch xmlns:a="http://schemas.openxmlformats.org/drawingml/2006/main"/>
        </p:blipFill>
        <p:spPr>
          <a:xfrm xmlns:a="http://schemas.openxmlformats.org/drawingml/2006/main">
            <a:off x="566065" y="457200"/>
            <a:ext cx="2658819" cy="619125"/>
          </a:xfrm>
          <a:prstGeom xmlns:a="http://schemas.openxmlformats.org/drawingml/2006/main" prst="rect">
            <a:avLst/>
          </a:prstGeom>
        </p:spPr>
      </p:pic>
      <p:sp>
        <p:nvSpPr>
          <p:cNvPr id="2" name="Next comes&#10;real people.">
            <a:extLst xmlns:a="http://schemas.openxmlformats.org/drawingml/2006/main">
              <a:ext uri="{FF2B5EF4-FFF2-40B4-BE49-F238E27FC236}">
                <a16:creationId xmlns:a16="http://schemas.microsoft.com/office/drawing/2014/main" id="{76D08187-F04C-4A68-BDFB-05C8986B639D}"/>
              </a:ext>
            </a:extLst>
          </p:cNvPr>
          <p:cNvSpPr>
            <a:spLocks xmlns:a="http://schemas.openxmlformats.org/drawingml/2006/main" noGrp="1"/>
          </p:cNvSpPr>
          <p:nvPr/>
        </p:nvSpPr>
        <p:spPr>
          <a:xfrm xmlns:a="http://schemas.openxmlformats.org/drawingml/2006/main">
            <a:off x="552450" y="1905000"/>
            <a:ext cx="7620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225" b="1">
                <a:solidFill>
                  <a:srgbClr val="FFFFFF"/>
                </a:solidFill>
                <a:latin typeface="Avenir Next"/>
                <a:ea typeface="Avenir Next"/>
                <a:cs typeface="Avenir Next"/>
              </a:defRPr>
            </a:defPPr>
          </a:lstStyle>
          <a:p xmlns:a="http://schemas.openxmlformats.org/drawingml/2006/main">
            <a:pPr>
              <a:buNone/>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Next comes</a:t>
            </a:r>
          </a:p>
          <a:p xmlns:a="http://schemas.openxmlformats.org/drawingml/2006/main">
            <a:pPr>
              <a:buNone/>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real people.</a:t>
            </a:r>
          </a:p>
        </p:txBody>
      </p:sp>
      <p:sp>
        <p:nvSpPr>
          <p:cNvPr id="3" name="10 unassisted tests">
            <a:extLst xmlns:a="http://schemas.openxmlformats.org/drawingml/2006/main">
              <a:ext uri="{FF2B5EF4-FFF2-40B4-BE49-F238E27FC236}">
                <a16:creationId xmlns:a16="http://schemas.microsoft.com/office/drawing/2014/main" id="{B1FFC9B6-74F9-4DFC-844B-D161047BA56E}"/>
              </a:ext>
            </a:extLst>
          </p:cNvPr>
          <p:cNvSpPr>
            <a:spLocks xmlns:a="http://schemas.openxmlformats.org/drawingml/2006/main" noGrp="1"/>
          </p:cNvSpPr>
          <p:nvPr/>
        </p:nvSpPr>
        <p:spPr>
          <a:xfrm xmlns:a="http://schemas.openxmlformats.org/drawingml/2006/main">
            <a:off x="590550" y="4467225"/>
            <a:ext cx="609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D9FF66"/>
                </a:solidFill>
                <a:latin typeface="Avenir Next"/>
                <a:ea typeface="Avenir Next"/>
                <a:cs typeface="Avenir Next"/>
              </a:defRPr>
            </a:defPPr>
          </a:lstStyle>
          <a:p xmlns:a="http://schemas.openxmlformats.org/drawingml/2006/main">
            <a:pPr>
              <a:buNone/>
              <a:defRPr sz="2550" b="1">
                <a:solidFill>
                  <a:srgbClr val="D9FF66"/>
                </a:solidFill>
                <a:latin typeface="Avenir Next"/>
                <a:ea typeface="Avenir Next"/>
                <a:cs typeface="Avenir Next"/>
              </a:defRPr>
            </a:pPr>
            <a:r>
              <a:rPr sz="2550" b="1">
                <a:solidFill>
                  <a:srgbClr val="D9FF66"/>
                </a:solidFill>
                <a:latin typeface="Avenir Next"/>
                <a:ea typeface="Avenir Next"/>
                <a:cs typeface="Avenir Next"/>
              </a:rPr>
              <a:t>10 unassisted tests</a:t>
            </a:r>
          </a:p>
        </p:txBody>
      </p:sp>
      <p:sp>
        <p:nvSpPr>
          <p:cNvPr id="4" name="Can beginners explain the cost,&#10;payment timing a">
            <a:extLst xmlns:a="http://schemas.openxmlformats.org/drawingml/2006/main">
              <a:ext uri="{FF2B5EF4-FFF2-40B4-BE49-F238E27FC236}">
                <a16:creationId xmlns:a16="http://schemas.microsoft.com/office/drawing/2014/main" id="{D002F28F-CDF9-4825-B30F-80086FFAB53A}"/>
              </a:ext>
            </a:extLst>
          </p:cNvPr>
          <p:cNvSpPr>
            <a:spLocks xmlns:a="http://schemas.openxmlformats.org/drawingml/2006/main" noGrp="1"/>
          </p:cNvSpPr>
          <p:nvPr/>
        </p:nvSpPr>
        <p:spPr>
          <a:xfrm xmlns:a="http://schemas.openxmlformats.org/drawingml/2006/main">
            <a:off x="609600" y="5057775"/>
            <a:ext cx="6448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FFFFF"/>
                </a:solidFill>
                <a:latin typeface="Avenir Next"/>
                <a:ea typeface="Avenir Next"/>
                <a:cs typeface="Avenir Next"/>
              </a:defRPr>
            </a:defPPr>
          </a:lstStyle>
          <a:p xmlns:a="http://schemas.openxmlformats.org/drawingml/2006/main">
            <a:pPr>
              <a:buNone/>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Can beginners explain the cost,</a:t>
            </a:r>
          </a:p>
          <a:p xmlns:a="http://schemas.openxmlformats.org/drawingml/2006/main">
            <a:pPr>
              <a:buNone/>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payment timing and loss risk?</a:t>
            </a:r>
          </a:p>
        </p:txBody>
      </p:sp>
      <p:pic>
        <p:nvPicPr>
          <p:cNvPr id="5" name="">
            <a:extLst xmlns:a="http://schemas.openxmlformats.org/drawingml/2006/main">
              <a:ext uri="{FF2B5EF4-FFF2-40B4-BE49-F238E27FC236}">
                <a16:creationId xmlns:a16="http://schemas.microsoft.com/office/drawing/2014/main" id="{9F5224B6-3A22-42D2-9AF0-062897137D5E}"/>
              </a:ext>
            </a:extLst>
          </p:cNvPr>
          <p:cNvPicPr>
            <a:picLocks xmlns:a="http://schemas.openxmlformats.org/drawingml/2006/main" noChangeAspect="1"/>
          </p:cNvPicPr>
          <p:nvPr/>
        </p:nvPicPr>
        <p:blipFill>
          <a:blip xmlns:r="http://schemas.openxmlformats.org/officeDocument/2006/relationships" xmlns:a="http://schemas.openxmlformats.org/drawingml/2006/main" r:embed="R2255188c4d894941"/>
          <a:stretch xmlns:a="http://schemas.openxmlformats.org/drawingml/2006/main"/>
        </p:blipFill>
        <p:spPr>
          <a:xfrm xmlns:a="http://schemas.openxmlformats.org/drawingml/2006/main">
            <a:off x="8963025" y="1685925"/>
            <a:ext cx="2095500" cy="2095500"/>
          </a:xfrm>
          <a:prstGeom xmlns:a="http://schemas.openxmlformats.org/drawingml/2006/main" prst="rect">
            <a:avLst/>
          </a:prstGeom>
        </p:spPr>
      </p:pic>
      <p:sp>
        <p:nvSpPr>
          <p:cNvPr id="6" name="Seeking pilot participants&#10;and bond infrastructu">
            <a:extLst xmlns:a="http://schemas.openxmlformats.org/drawingml/2006/main">
              <a:ext uri="{FF2B5EF4-FFF2-40B4-BE49-F238E27FC236}">
                <a16:creationId xmlns:a16="http://schemas.microsoft.com/office/drawing/2014/main" id="{2E754AFD-3B8E-4082-907E-493738080E79}"/>
              </a:ext>
            </a:extLst>
          </p:cNvPr>
          <p:cNvSpPr>
            <a:spLocks xmlns:a="http://schemas.openxmlformats.org/drawingml/2006/main" noGrp="1"/>
          </p:cNvSpPr>
          <p:nvPr/>
        </p:nvSpPr>
        <p:spPr>
          <a:xfrm xmlns:a="http://schemas.openxmlformats.org/drawingml/2006/main">
            <a:off x="8353425" y="4514850"/>
            <a:ext cx="3333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FFFFFF"/>
                </a:solidFill>
                <a:latin typeface="Avenir Next"/>
                <a:ea typeface="Avenir Next"/>
                <a:cs typeface="Avenir Next"/>
              </a:defRPr>
            </a:defPPr>
          </a:lstStyle>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Seeking pilot participants</a:t>
            </a:r>
          </a:p>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and bond infrastructure</a:t>
            </a:r>
          </a:p>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introductions</a:t>
            </a:r>
          </a:p>
        </p:txBody>
      </p:sp>
      <p:sp>
        <p:nvSpPr>
          <p:cNvPr id="7" name="Next: measure opt-in interest, test pricing and ">
            <a:extLst xmlns:a="http://schemas.openxmlformats.org/drawingml/2006/main">
              <a:ext uri="{FF2B5EF4-FFF2-40B4-BE49-F238E27FC236}">
                <a16:creationId xmlns:a16="http://schemas.microsoft.com/office/drawing/2014/main" id="{7A8654B3-A357-4DDF-8327-DB074270F098}"/>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Next: measure opt-in interest, test pricing and explore execution partners.</a:t>
            </a:r>
          </a:p>
        </p:txBody>
      </p:sp>
      <p:sp>
        <p:nvSpPr>
          <p:cNvPr id="8" name="10">
            <a:extLst xmlns:a="http://schemas.openxmlformats.org/drawingml/2006/main">
              <a:ext uri="{FF2B5EF4-FFF2-40B4-BE49-F238E27FC236}">
                <a16:creationId xmlns:a16="http://schemas.microsoft.com/office/drawing/2014/main" id="{5A997ED1-479F-44A5-B5E3-9DCC78DD9045}"/>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08</a:t>
            </a:r>
          </a:p>
        </p:txBody>
      </p:sp>
    </p:spTree>
    <p:extLst>
      <p:ext uri="{BB962C8B-B14F-4D97-AF65-F5344CB8AC3E}">
        <p14:creationId xmlns:p14="http://schemas.microsoft.com/office/powerpoint/2010/main" val="596686294"/>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D9FF66"/>
        </a:solidFill>
      </p:bgPr>
    </p:bg>
    <p:spTree>
      <p:nvGrpSpPr>
        <p:cNvPr id="1" name=""/>
        <p:cNvGrpSpPr/>
        <p:nvPr/>
      </p:nvGrpSpPr>
      <p:grpSpPr>
        <a:xfrm/>
      </p:grpSpPr>
      <p:pic>
        <p:nvPicPr>
          <p:cNvPr id="8" name="">
            <a:extLst>
              <a:ext uri="{FF2B5EF4-FFF2-40B4-BE49-F238E27FC236}">
                <ns2:creationId id="{31DA54E0-6BD9-4E81-9D78-4DF9E9138B1C}"/>
              </a:ext>
            </a:extLst>
          </p:cNvPr>
          <p:cNvPicPr>
            <a:picLocks noChangeAspect="1"/>
          </p:cNvPicPr>
          <p:nvPr/>
        </p:nvPicPr>
        <p:blipFill>
          <a:blip r:embed="R187ed038ca7f4ea5"/>
          <a:stretch/>
        </p:blipFill>
        <p:spPr>
          <a:xfrm>
            <a:off x="552450" y="463881"/>
            <a:ext cx="2724150" cy="634338"/>
          </a:xfrm>
          <a:prstGeom prst="rect">
            <a:avLst/>
          </a:prstGeom>
        </p:spPr>
      </p:pic>
      <p:sp>
        <p:nvSpPr>
          <p:cNvPr id="2" name="Try your&#10;first bond.">
            <a:extLst>
              <a:ext uri="{FF2B5EF4-FFF2-40B4-BE49-F238E27FC236}">
                <ns2:creationId id="{C506466F-7244-42A5-BA9E-5B38CA4B6FBE}"/>
              </a:ext>
            </a:extLst>
          </p:cNvPr>
          <p:cNvSpPr>
            <a:spLocks noGrp="1"/>
          </p:cNvSpPr>
          <p:nvPr/>
        </p:nvSpPr>
        <p:spPr>
          <a:xfrm>
            <a:off x="552450" y="1857375"/>
            <a:ext cx="6286500" cy="2038350"/>
          </a:xfrm>
          <a:prstGeom prst="rect">
            <a:avLst/>
          </a:prstGeom>
          <a:noFill/>
          <a:ln w="0">
            <a:noFill/>
          </a:ln>
        </p:spPr>
        <p:txBody>
          <a:bodyPr lIns="0" tIns="0" rIns="0" bIns="0" anchor="t">
            <a:noAutofit/>
          </a:bodyPr>
          <a:lstStyle>
            <a:defPPr>
              <a:defRPr sz="6000" b="1">
                <a:solidFill>
                  <a:srgbClr val="241634"/>
                </a:solidFill>
                <a:latin typeface="Avenir Next"/>
                <a:ea typeface="Avenir Next"/>
                <a:cs typeface="Avenir Next"/>
              </a:defRPr>
            </a:defPPr>
          </a:lstStyle>
          <a:p>
            <a:pPr>
              <a:defRPr sz="6000" b="1">
                <a:solidFill>
                  <a:srgbClr val="241634"/>
                </a:solidFill>
                <a:latin typeface="Avenir Next"/>
                <a:ea typeface="Avenir Next"/>
                <a:cs typeface="Avenir Next"/>
              </a:defRPr>
            </a:pPr>
            <a:r>
              <a:rPr sz="6000" b="1">
                <a:solidFill>
                  <a:srgbClr val="241634"/>
                </a:solidFill>
                <a:latin typeface="Avenir Next"/>
                <a:ea typeface="Avenir Next"/>
                <a:cs typeface="Avenir Next"/>
              </a:rPr>
              <a:t>Try your</a:t>
            </a:r>
          </a:p>
          <a:p>
            <a:pPr>
              <a:defRPr sz="6000" b="1">
                <a:solidFill>
                  <a:srgbClr val="241634"/>
                </a:solidFill>
                <a:latin typeface="Avenir Next"/>
                <a:ea typeface="Avenir Next"/>
                <a:cs typeface="Avenir Next"/>
              </a:defRPr>
            </a:pPr>
            <a:r>
              <a:rPr sz="6000" b="1">
                <a:solidFill>
                  <a:srgbClr val="241634"/>
                </a:solidFill>
                <a:latin typeface="Avenir Next"/>
                <a:ea typeface="Avenir Next"/>
                <a:cs typeface="Avenir Next"/>
              </a:rPr>
              <a:t>first bond.</a:t>
            </a:r>
          </a:p>
        </p:txBody>
      </p:sp>
      <p:sp>
        <p:nvSpPr>
          <p:cNvPr id="3" name="Tell us what feels clear—&#10;and what still needs e">
            <a:extLst>
              <a:ext uri="{FF2B5EF4-FFF2-40B4-BE49-F238E27FC236}">
                <ns2:creationId id="{61DAC0E9-7BD4-4804-AD6C-B5D483840A19}"/>
              </a:ext>
            </a:extLst>
          </p:cNvPr>
          <p:cNvSpPr>
            <a:spLocks noGrp="1"/>
          </p:cNvSpPr>
          <p:nvPr/>
        </p:nvSpPr>
        <p:spPr>
          <a:xfrm>
            <a:off x="581025" y="4210050"/>
            <a:ext cx="6191250" cy="1047750"/>
          </a:xfrm>
          <a:prstGeom prst="rect">
            <a:avLst/>
          </a:prstGeom>
          <a:noFill/>
          <a:ln w="0">
            <a:noFill/>
          </a:ln>
        </p:spPr>
        <p:txBody>
          <a:bodyPr lIns="0" tIns="0" rIns="0" bIns="0" anchor="t">
            <a:noAutofit/>
          </a:bodyPr>
          <a:lstStyle>
            <a:defPPr>
              <a:defRPr sz="2175" b="0">
                <a:solidFill>
                  <a:srgbClr val="241634"/>
                </a:solidFill>
                <a:latin typeface="Avenir Next"/>
                <a:ea typeface="Avenir Next"/>
                <a:cs typeface="Avenir Next"/>
              </a:defRPr>
            </a:defPPr>
          </a:lstStyle>
          <a:p>
            <a:pPr>
              <a:defRPr sz="2175" b="0">
                <a:solidFill>
                  <a:srgbClr val="241634"/>
                </a:solidFill>
                <a:latin typeface="Avenir Next"/>
                <a:ea typeface="Avenir Next"/>
                <a:cs typeface="Avenir Next"/>
              </a:defRPr>
            </a:pPr>
            <a:r>
              <a:rPr sz="2175" b="0">
                <a:solidFill>
                  <a:srgbClr val="241634"/>
                </a:solidFill>
                <a:latin typeface="Avenir Next"/>
                <a:ea typeface="Avenir Next"/>
                <a:cs typeface="Avenir Next"/>
              </a:rPr>
              <a:t>Tell us what feels clear—</a:t>
            </a:r>
          </a:p>
          <a:p>
            <a:pPr>
              <a:defRPr sz="2175" b="0">
                <a:solidFill>
                  <a:srgbClr val="241634"/>
                </a:solidFill>
                <a:latin typeface="Avenir Next"/>
                <a:ea typeface="Avenir Next"/>
                <a:cs typeface="Avenir Next"/>
              </a:defRPr>
            </a:pPr>
            <a:r>
              <a:rPr sz="2175" b="0">
                <a:solidFill>
                  <a:srgbClr val="241634"/>
                </a:solidFill>
                <a:latin typeface="Avenir Next"/>
                <a:ea typeface="Avenir Next"/>
                <a:cs typeface="Avenir Next"/>
              </a:rPr>
              <a:t>and what still needs explaining.</a:t>
            </a:r>
          </a:p>
        </p:txBody>
      </p:sp>
      <p:sp>
        <p:nvSpPr>
          <p:cNvPr id="4" name="increditble.vercel.app">
            <a:extLst>
              <a:ext uri="{FF2B5EF4-FFF2-40B4-BE49-F238E27FC236}">
                <ns2:creationId id="{1CE3B581-C811-46E0-B6C4-BC8D4A182A8C}"/>
              </a:ext>
            </a:extLst>
          </p:cNvPr>
          <p:cNvSpPr>
            <a:spLocks noGrp="1"/>
          </p:cNvSpPr>
          <p:nvPr/>
        </p:nvSpPr>
        <p:spPr>
          <a:xfrm>
            <a:off x="581025" y="5581650"/>
            <a:ext cx="6191250" cy="504825"/>
          </a:xfrm>
          <a:prstGeom prst="rect">
            <a:avLst/>
          </a:prstGeom>
          <a:noFill/>
          <a:ln w="0">
            <a:noFill/>
          </a:ln>
        </p:spPr>
        <p:txBody>
          <a:bodyPr lIns="0" tIns="0" rIns="0" bIns="0" anchor="t">
            <a:noAutofit/>
          </a:bodyPr>
          <a:lstStyle>
            <a:defPPr>
              <a:defRPr sz="2400" b="1">
                <a:solidFill>
                  <a:srgbClr val="7445FF"/>
                </a:solidFill>
                <a:latin typeface="Avenir Next"/>
                <a:ea typeface="Avenir Next"/>
                <a:cs typeface="Avenir Next"/>
              </a:defRPr>
            </a:defPPr>
          </a:lstStyle>
          <a:p>
            <a:pPr>
              <a:defRPr sz="2400" b="1">
                <a:solidFill>
                  <a:srgbClr val="7445FF"/>
                </a:solidFill>
                <a:latin typeface="Avenir Next"/>
                <a:ea typeface="Avenir Next"/>
                <a:cs typeface="Avenir Next"/>
              </a:defRPr>
            </a:pPr>
            <a:r>
              <a:rPr sz="2400" b="1">
                <a:solidFill>
                  <a:srgbClr val="7445FF"/>
                </a:solidFill>
                <a:latin typeface="Avenir Next"/>
                <a:ea typeface="Avenir Next"/>
                <a:cs typeface="Avenir Next"/>
              </a:rPr>
              <a:t>increditble.vercel.app</a:t>
            </a:r>
          </a:p>
        </p:txBody>
      </p:sp>
      <p:pic>
        <p:nvPicPr>
          <p:cNvPr id="5" name="" descr="Scan or click to open the public InCreditble prototype">
            <a:hlinkClick r:id="websiteLink"/>
            <a:extLst>
              <a:ext uri="{FF2B5EF4-FFF2-40B4-BE49-F238E27FC236}">
                <ns2:creationId id="{DBA80C8F-F5D5-413D-9A1D-DA647DD4B25D}"/>
              </a:ext>
            </a:extLst>
          </p:cNvPr>
          <p:cNvPicPr>
            <a:picLocks noChangeAspect="1"/>
          </p:cNvPicPr>
          <p:nvPr/>
        </p:nvPicPr>
        <p:blipFill>
          <a:blip r:embed="R1db9f7a8c62f4aea"/>
          <a:stretch/>
        </p:blipFill>
        <p:spPr>
          <a:xfrm>
            <a:off x="7239000" y="1943100"/>
            <a:ext cx="4191000" cy="4191000"/>
          </a:xfrm>
          <a:prstGeom prst="rect">
            <a:avLst/>
          </a:prstGeom>
        </p:spPr>
      </p:pic>
      <p:sp>
        <p:nvSpPr>
          <p:cNvPr id="6" name="Demo only · No account or real money required">
            <a:extLst>
              <a:ext uri="{FF2B5EF4-FFF2-40B4-BE49-F238E27FC236}">
                <ns2:creationId id="{87518F6E-89DE-4DD0-9720-8EE5D20ED9AF}"/>
              </a:ext>
            </a:extLst>
          </p:cNvPr>
          <p:cNvSpPr>
            <a:spLocks noGrp="1"/>
          </p:cNvSpPr>
          <p:nvPr/>
        </p:nvSpPr>
        <p:spPr>
          <a:xfrm>
            <a:off x="581025" y="6400800"/>
            <a:ext cx="10477500" cy="257175"/>
          </a:xfrm>
          <a:prstGeom prst="rect">
            <a:avLst/>
          </a:prstGeom>
          <a:noFill/>
          <a:ln w="0">
            <a:noFill/>
          </a:ln>
        </p:spPr>
        <p:txBody>
          <a:bodyPr lIns="0" tIns="0" rIns="0" bIns="0" anchor="t">
            <a:noAutofit/>
          </a:bodyPr>
          <a:lstStyle>
            <a:defPPr>
              <a:defRPr sz="1275" b="0">
                <a:solidFill>
                  <a:srgbClr val="241634"/>
                </a:solidFill>
                <a:latin typeface="Avenir Next"/>
                <a:ea typeface="Avenir Next"/>
                <a:cs typeface="Avenir Next"/>
              </a:defRPr>
            </a:defPPr>
          </a:lstStyle>
          <a:p>
            <a:pPr>
              <a:defRPr sz="1275" b="0">
                <a:solidFill>
                  <a:srgbClr val="241634"/>
                </a:solidFill>
                <a:latin typeface="Avenir Next"/>
                <a:ea typeface="Avenir Next"/>
                <a:cs typeface="Avenir Next"/>
              </a:defRPr>
            </a:pPr>
            <a:r>
              <a:rPr sz="1275" b="0">
                <a:solidFill>
                  <a:srgbClr val="241634"/>
                </a:solidFill>
                <a:latin typeface="Avenir Next"/>
                <a:ea typeface="Avenir Next"/>
                <a:cs typeface="Avenir Next"/>
              </a:rPr>
              <a:t>Demo only · No account or real money required</a:t>
            </a:r>
          </a:p>
        </p:txBody>
      </p:sp>
      <p:sp>
        <p:nvSpPr>
          <p:cNvPr id="7" name="09">
            <a:extLst>
              <a:ext uri="{FF2B5EF4-FFF2-40B4-BE49-F238E27FC236}">
                <ns2:creationId id="{3D2DA1F7-25EC-4011-B3A7-C757F64CC67C}"/>
              </a:ext>
            </a:extLst>
          </p:cNvPr>
          <p:cNvSpPr>
            <a:spLocks noGrp="1"/>
          </p:cNvSpPr>
          <p:nvPr/>
        </p:nvSpPr>
        <p:spPr>
          <a:xfrm>
            <a:off x="11239500" y="6381750"/>
            <a:ext cx="419100" cy="266700"/>
          </a:xfrm>
          <a:prstGeom prst="rect">
            <a:avLst/>
          </a:prstGeom>
          <a:noFill/>
          <a:ln w="0">
            <a:noFill/>
          </a:ln>
        </p:spPr>
        <p:txBody>
          <a:bodyPr lIns="0" tIns="0" rIns="0" bIns="0" anchor="t">
            <a:noAutofit/>
          </a:bodyPr>
          <a:lstStyle>
            <a:defPPr>
              <a:defRPr sz="1275" b="0">
                <a:solidFill>
                  <a:srgbClr val="241634"/>
                </a:solidFill>
                <a:latin typeface="Avenir Next"/>
                <a:ea typeface="Avenir Next"/>
                <a:cs typeface="Avenir Next"/>
              </a:defRPr>
            </a:defPPr>
          </a:lstStyle>
          <a:p>
            <a:pPr>
              <a:defRPr sz="1275" b="0">
                <a:solidFill>
                  <a:srgbClr val="241634"/>
                </a:solidFill>
                <a:latin typeface="Avenir Next"/>
                <a:ea typeface="Avenir Next"/>
                <a:cs typeface="Avenir Next"/>
              </a:defRPr>
            </a:pPr>
            <a:r>
              <a:rPr sz="1275" b="0">
                <a:solidFill>
                  <a:srgbClr val="241634"/>
                </a:solidFill>
                <a:latin typeface="Avenir Next"/>
                <a:ea typeface="Avenir Next"/>
                <a:cs typeface="Avenir Next"/>
              </a:rPr>
              <a:t>09</a:t>
            </a:r>
          </a:p>
        </p:txBody>
      </p:sp>
    </p:spTree>
    <p:extLst>
      <p:ext uri="{BB962C8B-B14F-4D97-AF65-F5344CB8AC3E}">
        <p14:creationId val="1935986059"/>
      </p:ext>
    </p:extLst>
  </p:cSld>
</p:sld>
</file>

<file path=ppt/slides/slide10.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145C73B-F6CC-485B-A2C5-DAA3B40FE883}"/>
              </a:ext>
            </a:extLst>
          </p:cNvPr>
          <p:cNvPicPr>
            <a:picLocks xmlns:a="http://schemas.openxmlformats.org/drawingml/2006/main" noChangeAspect="1"/>
          </p:cNvPicPr>
          <p:nvPr/>
        </p:nvPicPr>
        <p:blipFill>
          <a:blip xmlns:r="http://schemas.openxmlformats.org/officeDocument/2006/relationships" xmlns:a="http://schemas.openxmlformats.org/drawingml/2006/main" r:embed="R56594196193a49cf"/>
          <a:stretch xmlns:a="http://schemas.openxmlformats.org/drawingml/2006/main"/>
        </p:blipFill>
        <p:spPr>
          <a:xfrm xmlns:a="http://schemas.openxmlformats.org/drawingml/2006/main">
            <a:off x="552450" y="343118"/>
            <a:ext cx="2247900" cy="523440"/>
          </a:xfrm>
          <a:prstGeom xmlns:a="http://schemas.openxmlformats.org/drawingml/2006/main" prst="rect">
            <a:avLst/>
          </a:prstGeom>
        </p:spPr>
      </p:pic>
      <p:sp>
        <p:nvSpPr>
          <p:cNvPr id="2" name="Contact our team">
            <a:extLst xmlns:a="http://schemas.openxmlformats.org/drawingml/2006/main">
              <a:ext uri="{FF2B5EF4-FFF2-40B4-BE49-F238E27FC236}">
                <a16:creationId xmlns:a16="http://schemas.microsoft.com/office/drawing/2014/main" id="{E79A5002-9022-4779-A2C3-8A11C2A9E753}"/>
              </a:ext>
            </a:extLst>
          </p:cNvPr>
          <p:cNvSpPr>
            <a:spLocks xmlns:a="http://schemas.openxmlformats.org/drawingml/2006/main" noGrp="1"/>
          </p:cNvSpPr>
          <p:nvPr/>
        </p:nvSpPr>
        <p:spPr>
          <a:xfrm xmlns:a="http://schemas.openxmlformats.org/drawingml/2006/main">
            <a:off x="552450" y="9525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500" b="1" u="none">
                <a:solidFill>
                  <a:srgbClr val="FFFDF5"/>
                </a:solidFill>
                <a:latin typeface="Avenir Next"/>
                <a:ea typeface="Avenir Next"/>
                <a:cs typeface="Avenir Next"/>
              </a:defRPr>
            </a:defPPr>
          </a:lstStyle>
          <a:p xmlns:a="http://schemas.openxmlformats.org/drawingml/2006/main">
            <a:pPr>
              <a:buNone/>
              <a:defRPr sz="4500" b="1" u="none">
                <a:solidFill>
                  <a:srgbClr val="FFFDF5"/>
                </a:solidFill>
                <a:latin typeface="Avenir Next"/>
                <a:ea typeface="Avenir Next"/>
                <a:cs typeface="Avenir Next"/>
              </a:defRPr>
            </a:pPr>
            <a:r>
              <a:rPr sz="4500" b="1" u="none">
                <a:solidFill>
                  <a:srgbClr val="FFFDF5"/>
                </a:solidFill>
                <a:latin typeface="Avenir Next"/>
                <a:ea typeface="Avenir Next"/>
                <a:cs typeface="Avenir Next"/>
              </a:rPr>
              <a:t>Contact our team</a:t>
            </a:r>
          </a:p>
        </p:txBody>
      </p:sp>
      <p:sp>
        <p:nvSpPr>
          <p:cNvPr id="3" name="Scan to connect on LinkedIn">
            <a:extLst xmlns:a="http://schemas.openxmlformats.org/drawingml/2006/main">
              <a:ext uri="{FF2B5EF4-FFF2-40B4-BE49-F238E27FC236}">
                <a16:creationId xmlns:a16="http://schemas.microsoft.com/office/drawing/2014/main" id="{7DEA54CB-0EE5-4E72-97A8-DFABE7F831AA}"/>
              </a:ext>
            </a:extLst>
          </p:cNvPr>
          <p:cNvSpPr>
            <a:spLocks xmlns:a="http://schemas.openxmlformats.org/drawingml/2006/main" noGrp="1"/>
          </p:cNvSpPr>
          <p:nvPr/>
        </p:nvSpPr>
        <p:spPr>
          <a:xfrm xmlns:a="http://schemas.openxmlformats.org/drawingml/2006/main">
            <a:off x="590550" y="1733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u="none">
                <a:solidFill>
                  <a:srgbClr val="C5B8D3"/>
                </a:solidFill>
                <a:latin typeface="Avenir Next"/>
                <a:ea typeface="Avenir Next"/>
                <a:cs typeface="Avenir Next"/>
              </a:defRPr>
            </a:defPPr>
          </a:lstStyle>
          <a:p xmlns:a="http://schemas.openxmlformats.org/drawingml/2006/main">
            <a:pPr>
              <a:buNone/>
              <a:defRPr sz="1725" b="0" u="none">
                <a:solidFill>
                  <a:srgbClr val="C5B8D3"/>
                </a:solidFill>
                <a:latin typeface="Avenir Next"/>
                <a:ea typeface="Avenir Next"/>
                <a:cs typeface="Avenir Next"/>
              </a:defRPr>
            </a:pPr>
            <a:r>
              <a:rPr sz="1725" b="0" u="none">
                <a:solidFill>
                  <a:srgbClr val="C5B8D3"/>
                </a:solidFill>
                <a:latin typeface="Avenir Next"/>
                <a:ea typeface="Avenir Next"/>
                <a:cs typeface="Avenir Next"/>
              </a:rPr>
              <a:t>Scan to connect on LinkedIn</a:t>
            </a:r>
          </a:p>
        </p:txBody>
      </p:sp>
      <p:sp>
        <p:nvSpPr>
          <p:cNvPr id="4" name="Ivy Pei">
            <a:extLst xmlns:a="http://schemas.openxmlformats.org/drawingml/2006/main">
              <a:ext uri="{FF2B5EF4-FFF2-40B4-BE49-F238E27FC236}">
                <a16:creationId xmlns:a16="http://schemas.microsoft.com/office/drawing/2014/main" id="{A921DB19-27AA-479D-8AAC-1B97866DD6B7}"/>
              </a:ext>
            </a:extLst>
          </p:cNvPr>
          <p:cNvSpPr>
            <a:spLocks xmlns:a="http://schemas.openxmlformats.org/drawingml/2006/main" noGrp="1"/>
          </p:cNvSpPr>
          <p:nvPr/>
        </p:nvSpPr>
        <p:spPr>
          <a:xfrm xmlns:a="http://schemas.openxmlformats.org/drawingml/2006/main">
            <a:off x="590550" y="434340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u="none">
                <a:solidFill>
                  <a:srgbClr val="FFFDF5"/>
                </a:solidFill>
                <a:latin typeface="Avenir Next"/>
                <a:ea typeface="Avenir Next"/>
                <a:cs typeface="Avenir Next"/>
              </a:defRPr>
            </a:defPPr>
          </a:lstStyle>
          <a:p xmlns:a="http://schemas.openxmlformats.org/drawingml/2006/main">
            <a:pPr>
              <a:buNone/>
              <a:defRPr sz="2400" b="1" u="none">
                <a:solidFill>
                  <a:srgbClr val="FFFDF5"/>
                </a:solidFill>
                <a:latin typeface="Avenir Next"/>
                <a:ea typeface="Avenir Next"/>
                <a:cs typeface="Avenir Next"/>
              </a:defRPr>
            </a:pPr>
            <a:r>
              <a:rPr sz="2400" b="1" u="none">
                <a:solidFill>
                  <a:srgbClr val="FFFDF5"/>
                </a:solidFill>
                <a:latin typeface="Avenir Next"/>
                <a:ea typeface="Avenir Next"/>
                <a:cs typeface="Avenir Next"/>
              </a:rPr>
              <a:t>Ivy Pei</a:t>
            </a:r>
          </a:p>
        </p:txBody>
      </p:sp>
      <p:sp>
        <p:nvSpPr>
          <p:cNvPr id="5" name="Founder">
            <a:extLst xmlns:a="http://schemas.openxmlformats.org/drawingml/2006/main">
              <a:ext uri="{FF2B5EF4-FFF2-40B4-BE49-F238E27FC236}">
                <a16:creationId xmlns:a16="http://schemas.microsoft.com/office/drawing/2014/main" id="{BC19F54C-AC8C-45E7-8A28-E5D505CA8BB9}"/>
              </a:ext>
            </a:extLst>
          </p:cNvPr>
          <p:cNvSpPr>
            <a:spLocks xmlns:a="http://schemas.openxmlformats.org/drawingml/2006/main" noGrp="1"/>
          </p:cNvSpPr>
          <p:nvPr/>
        </p:nvSpPr>
        <p:spPr>
          <a:xfrm xmlns:a="http://schemas.openxmlformats.org/drawingml/2006/main">
            <a:off x="590550" y="47625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u="none">
                <a:solidFill>
                  <a:srgbClr val="D9FF66"/>
                </a:solidFill>
                <a:latin typeface="Avenir Next"/>
                <a:ea typeface="Avenir Next"/>
                <a:cs typeface="Avenir Next"/>
              </a:defRPr>
            </a:defPPr>
          </a:lstStyle>
          <a:p xmlns:a="http://schemas.openxmlformats.org/drawingml/2006/main">
            <a:pPr>
              <a:buNone/>
              <a:defRPr sz="1650" b="0" u="none">
                <a:solidFill>
                  <a:srgbClr val="D9FF66"/>
                </a:solidFill>
                <a:latin typeface="Avenir Next"/>
                <a:ea typeface="Avenir Next"/>
                <a:cs typeface="Avenir Next"/>
              </a:defRPr>
            </a:pPr>
            <a:r>
              <a:rPr sz="1650" b="0" u="none">
                <a:solidFill>
                  <a:srgbClr val="D9FF66"/>
                </a:solidFill>
                <a:latin typeface="Avenir Next"/>
                <a:ea typeface="Avenir Next"/>
                <a:cs typeface="Avenir Next"/>
              </a:rPr>
              <a:t>Founder</a:t>
            </a:r>
          </a:p>
        </p:txBody>
      </p:sp>
      <p:pic>
        <p:nvPicPr>
          <p:cNvPr id="6" name="">
            <a:extLst xmlns:a="http://schemas.openxmlformats.org/drawingml/2006/main">
              <a:ext uri="{FF2B5EF4-FFF2-40B4-BE49-F238E27FC236}">
                <a16:creationId xmlns:a16="http://schemas.microsoft.com/office/drawing/2014/main" id="{DD82AB7C-1635-45D7-BC63-B083F7731BC8}"/>
              </a:ext>
            </a:extLst>
          </p:cNvPr>
          <p:cNvPicPr>
            <a:picLocks xmlns:a="http://schemas.openxmlformats.org/drawingml/2006/main" noChangeAspect="1"/>
          </p:cNvPicPr>
          <p:nvPr/>
        </p:nvPicPr>
        <p:blipFill>
          <a:blip xmlns:r="http://schemas.openxmlformats.org/officeDocument/2006/relationships" xmlns:a="http://schemas.openxmlformats.org/drawingml/2006/main" r:embed="Ra5a3108ce04742e0"/>
          <a:stretch xmlns:a="http://schemas.openxmlformats.org/drawingml/2006/main"/>
        </p:blipFill>
        <p:spPr>
          <a:xfrm xmlns:a="http://schemas.openxmlformats.org/drawingml/2006/main">
            <a:off x="3619500" y="2381250"/>
            <a:ext cx="1714500" cy="1714500"/>
          </a:xfrm>
          <a:prstGeom xmlns:a="http://schemas.openxmlformats.org/drawingml/2006/main" prst="rect">
            <a:avLst/>
          </a:prstGeom>
        </p:spPr>
      </p:pic>
      <p:sp>
        <p:nvSpPr>
          <p:cNvPr id="8" name="Ren Jie T.">
            <a:extLst xmlns:a="http://schemas.openxmlformats.org/drawingml/2006/main">
              <a:ext uri="{FF2B5EF4-FFF2-40B4-BE49-F238E27FC236}">
                <a16:creationId xmlns:a16="http://schemas.microsoft.com/office/drawing/2014/main" id="{245FD190-8529-4FBD-8219-A9413CD05AA2}"/>
              </a:ext>
            </a:extLst>
          </p:cNvPr>
          <p:cNvSpPr>
            <a:spLocks xmlns:a="http://schemas.openxmlformats.org/drawingml/2006/main" noGrp="1"/>
          </p:cNvSpPr>
          <p:nvPr/>
        </p:nvSpPr>
        <p:spPr>
          <a:xfrm xmlns:a="http://schemas.openxmlformats.org/drawingml/2006/main">
            <a:off x="6534150" y="434340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u="none">
                <a:solidFill>
                  <a:srgbClr val="FFFDF5"/>
                </a:solidFill>
                <a:latin typeface="Avenir Next"/>
                <a:ea typeface="Avenir Next"/>
                <a:cs typeface="Avenir Next"/>
              </a:defRPr>
            </a:defPPr>
          </a:lstStyle>
          <a:p xmlns:a="http://schemas.openxmlformats.org/drawingml/2006/main">
            <a:pPr>
              <a:buNone/>
              <a:defRPr sz="2400" b="1" u="none">
                <a:solidFill>
                  <a:srgbClr val="FFFDF5"/>
                </a:solidFill>
                <a:latin typeface="Avenir Next"/>
                <a:ea typeface="Avenir Next"/>
                <a:cs typeface="Avenir Next"/>
              </a:defRPr>
            </a:pPr>
            <a:r>
              <a:rPr sz="2400" b="1" u="none">
                <a:solidFill>
                  <a:srgbClr val="FFFDF5"/>
                </a:solidFill>
                <a:latin typeface="Avenir Next"/>
                <a:ea typeface="Avenir Next"/>
                <a:cs typeface="Avenir Next"/>
              </a:rPr>
              <a:t>Ren Jie T.</a:t>
            </a:r>
          </a:p>
        </p:txBody>
      </p:sp>
      <p:sp>
        <p:nvSpPr>
          <p:cNvPr id="9" name="CTO">
            <a:extLst xmlns:a="http://schemas.openxmlformats.org/drawingml/2006/main">
              <a:ext uri="{FF2B5EF4-FFF2-40B4-BE49-F238E27FC236}">
                <a16:creationId xmlns:a16="http://schemas.microsoft.com/office/drawing/2014/main" id="{A68BA4D9-8A18-420C-83D6-503B59E7B186}"/>
              </a:ext>
            </a:extLst>
          </p:cNvPr>
          <p:cNvSpPr>
            <a:spLocks xmlns:a="http://schemas.openxmlformats.org/drawingml/2006/main" noGrp="1"/>
          </p:cNvSpPr>
          <p:nvPr/>
        </p:nvSpPr>
        <p:spPr>
          <a:xfrm xmlns:a="http://schemas.openxmlformats.org/drawingml/2006/main">
            <a:off x="6534150" y="47625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u="none">
                <a:solidFill>
                  <a:srgbClr val="D9FF66"/>
                </a:solidFill>
                <a:latin typeface="Avenir Next"/>
                <a:ea typeface="Avenir Next"/>
                <a:cs typeface="Avenir Next"/>
              </a:defRPr>
            </a:defPPr>
          </a:lstStyle>
          <a:p xmlns:a="http://schemas.openxmlformats.org/drawingml/2006/main">
            <a:pPr>
              <a:buNone/>
              <a:defRPr sz="1650" b="0" u="none">
                <a:solidFill>
                  <a:srgbClr val="D9FF66"/>
                </a:solidFill>
                <a:latin typeface="Avenir Next"/>
                <a:ea typeface="Avenir Next"/>
                <a:cs typeface="Avenir Next"/>
              </a:defRPr>
            </a:pPr>
            <a:r>
              <a:rPr sz="1650" b="0" u="none">
                <a:solidFill>
                  <a:srgbClr val="D9FF66"/>
                </a:solidFill>
                <a:latin typeface="Avenir Next"/>
                <a:ea typeface="Avenir Next"/>
                <a:cs typeface="Avenir Next"/>
              </a:rPr>
              <a:t>CTO</a:t>
            </a:r>
          </a:p>
        </p:txBody>
      </p:sp>
      <p:pic>
        <p:nvPicPr>
          <p:cNvPr id="10" name="">
            <a:extLst xmlns:a="http://schemas.openxmlformats.org/drawingml/2006/main">
              <a:ext uri="{FF2B5EF4-FFF2-40B4-BE49-F238E27FC236}">
                <a16:creationId xmlns:a16="http://schemas.microsoft.com/office/drawing/2014/main" id="{06B52C96-7C31-4D84-A584-6D1042945AB3}"/>
              </a:ext>
            </a:extLst>
          </p:cNvPr>
          <p:cNvPicPr>
            <a:picLocks xmlns:a="http://schemas.openxmlformats.org/drawingml/2006/main" noChangeAspect="1"/>
          </p:cNvPicPr>
          <p:nvPr/>
        </p:nvPicPr>
        <p:blipFill>
          <a:blip xmlns:r="http://schemas.openxmlformats.org/officeDocument/2006/relationships" xmlns:a="http://schemas.openxmlformats.org/drawingml/2006/main" r:embed="R3c42fab5f4fb4e15"/>
          <a:stretch xmlns:a="http://schemas.openxmlformats.org/drawingml/2006/main"/>
        </p:blipFill>
        <p:spPr>
          <a:xfrm xmlns:a="http://schemas.openxmlformats.org/drawingml/2006/main">
            <a:off x="9563100" y="2381250"/>
            <a:ext cx="1714500" cy="1714500"/>
          </a:xfrm>
          <a:prstGeom xmlns:a="http://schemas.openxmlformats.org/drawingml/2006/main" prst="rect">
            <a:avLst/>
          </a:prstGeom>
        </p:spPr>
      </p:pic>
      <p:sp>
        <p:nvSpPr>
          <p:cNvPr id="12" name="Special thanks to">
            <a:extLst xmlns:a="http://schemas.openxmlformats.org/drawingml/2006/main">
              <a:ext uri="{FF2B5EF4-FFF2-40B4-BE49-F238E27FC236}">
                <a16:creationId xmlns:a16="http://schemas.microsoft.com/office/drawing/2014/main" id="{BF7C91D7-C955-48F3-AD94-ABD521E33290}"/>
              </a:ext>
            </a:extLst>
          </p:cNvPr>
          <p:cNvSpPr>
            <a:spLocks xmlns:a="http://schemas.openxmlformats.org/drawingml/2006/main" noGrp="1"/>
          </p:cNvSpPr>
          <p:nvPr/>
        </p:nvSpPr>
        <p:spPr>
          <a:xfrm xmlns:a="http://schemas.openxmlformats.org/drawingml/2006/main">
            <a:off x="5010150" y="5467350"/>
            <a:ext cx="600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u="none">
                <a:solidFill>
                  <a:srgbClr val="C5B8D3"/>
                </a:solidFill>
                <a:latin typeface="Avenir Next"/>
                <a:ea typeface="Avenir Next"/>
                <a:cs typeface="Avenir Next"/>
              </a:defRPr>
            </a:defPPr>
          </a:lstStyle>
          <a:p xmlns:a="http://schemas.openxmlformats.org/drawingml/2006/main">
            <a:pPr>
              <a:buNone/>
              <a:defRPr sz="1650" b="0" u="none">
                <a:solidFill>
                  <a:srgbClr val="C5B8D3"/>
                </a:solidFill>
                <a:latin typeface="Avenir Next"/>
                <a:ea typeface="Avenir Next"/>
                <a:cs typeface="Avenir Next"/>
              </a:defRPr>
            </a:pPr>
            <a:r>
              <a:rPr sz="1650" b="0" u="none">
                <a:solidFill>
                  <a:srgbClr val="C5B8D3"/>
                </a:solidFill>
                <a:latin typeface="Avenir Next"/>
                <a:ea typeface="Avenir Next"/>
                <a:cs typeface="Avenir Next"/>
              </a:rPr>
              <a:t>Special thanks to our mentor</a:t>
            </a:r>
          </a:p>
        </p:txBody>
      </p:sp>
      <p:sp>
        <p:nvSpPr>
          <p:cNvPr id="13" name="Pink Pan">
            <a:extLst xmlns:a="http://schemas.openxmlformats.org/drawingml/2006/main">
              <a:ext uri="{FF2B5EF4-FFF2-40B4-BE49-F238E27FC236}">
                <a16:creationId xmlns:a16="http://schemas.microsoft.com/office/drawing/2014/main" id="{E7D9A861-B045-42E2-9636-31FCB56CE523}"/>
              </a:ext>
            </a:extLst>
          </p:cNvPr>
          <p:cNvSpPr>
            <a:spLocks xmlns:a="http://schemas.openxmlformats.org/drawingml/2006/main" noGrp="1"/>
          </p:cNvSpPr>
          <p:nvPr/>
        </p:nvSpPr>
        <p:spPr>
          <a:xfrm xmlns:a="http://schemas.openxmlformats.org/drawingml/2006/main">
            <a:off x="5010150" y="581977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u="none">
                <a:solidFill>
                  <a:srgbClr val="FFFDF5"/>
                </a:solidFill>
                <a:latin typeface="Avenir Next"/>
                <a:ea typeface="Avenir Next"/>
                <a:cs typeface="Avenir Next"/>
              </a:defRPr>
            </a:defPPr>
          </a:lstStyle>
          <a:p xmlns:a="http://schemas.openxmlformats.org/drawingml/2006/main">
            <a:pPr>
              <a:buNone/>
              <a:defRPr sz="2700" b="1" u="none">
                <a:solidFill>
                  <a:srgbClr val="FFFDF5"/>
                </a:solidFill>
                <a:latin typeface="Avenir Next"/>
                <a:ea typeface="Avenir Next"/>
                <a:cs typeface="Avenir Next"/>
              </a:defRPr>
            </a:pPr>
            <a:r>
              <a:rPr sz="2700" b="1" u="none">
                <a:solidFill>
                  <a:srgbClr val="FFFDF5"/>
                </a:solidFill>
                <a:latin typeface="Avenir Next"/>
                <a:ea typeface="Avenir Next"/>
                <a:cs typeface="Avenir Next"/>
              </a:rPr>
              <a:t>Pink Pan</a:t>
            </a:r>
          </a:p>
        </p:txBody>
      </p:sp>
      <p:sp>
        <p:nvSpPr>
          <p:cNvPr id="14" name="(Mentor)">
            <a:extLst xmlns:a="http://schemas.openxmlformats.org/drawingml/2006/main">
              <a:ext uri="{FF2B5EF4-FFF2-40B4-BE49-F238E27FC236}">
                <a16:creationId xmlns:a16="http://schemas.microsoft.com/office/drawing/2014/main" id="{1A0FCE8C-6896-4817-BE54-E2E4694A3EE4}"/>
              </a:ext>
            </a:extLst>
          </p:cNvPr>
          <p:cNvSpPr>
            <a:spLocks xmlns:a="http://schemas.openxmlformats.org/drawingml/2006/main" noGrp="1"/>
          </p:cNvSpPr>
          <p:nvPr/>
        </p:nvSpPr>
        <p:spPr>
          <a:xfrm xmlns:a="http://schemas.openxmlformats.org/drawingml/2006/main">
            <a:off x="5010150" y="63341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u="none">
                <a:solidFill>
                  <a:srgbClr val="D9FF66"/>
                </a:solidFill>
                <a:latin typeface="Avenir Next"/>
                <a:ea typeface="Avenir Next"/>
                <a:cs typeface="Avenir Next"/>
              </a:defRPr>
            </a:defPPr>
          </a:lstStyle>
          <a:p xmlns:a="http://schemas.openxmlformats.org/drawingml/2006/main">
            <a:pPr>
              <a:buNone/>
              <a:defRPr sz="1425" b="0" u="none">
                <a:solidFill>
                  <a:srgbClr val="D9FF66"/>
                </a:solidFill>
                <a:latin typeface="Avenir Next"/>
                <a:ea typeface="Avenir Next"/>
                <a:cs typeface="Avenir Next"/>
              </a:defRPr>
            </a:pPr>
            <a:r>
              <a:rPr sz="1425" b="0" u="none">
                <a:solidFill>
                  <a:srgbClr val="D9FF66"/>
                </a:solidFill>
                <a:latin typeface="Avenir Next"/>
                <a:ea typeface="Avenir Next"/>
                <a:cs typeface="Avenir Next"/>
              </a:rPr>
              <a:t/>
            </a:r>
          </a:p>
        </p:txBody>
      </p:sp>
      <p:pic>
        <p:nvPicPr>
          <p:cNvPr id="17" name="">
            <a:extLst xmlns:a="http://schemas.openxmlformats.org/drawingml/2006/main">
              <a:ext uri="{FF2B5EF4-FFF2-40B4-BE49-F238E27FC236}">
                <a16:creationId xmlns:a16="http://schemas.microsoft.com/office/drawing/2014/main" id="{D6392580-F1D0-4DF1-80DF-9793CFC6C7E6}"/>
              </a:ext>
            </a:extLst>
          </p:cNvPr>
          <p:cNvPicPr>
            <a:picLocks xmlns:a="http://schemas.openxmlformats.org/drawingml/2006/main" noChangeAspect="1"/>
          </p:cNvPicPr>
          <p:nvPr/>
        </p:nvPicPr>
        <p:blipFill>
          <a:blip xmlns:r="http://schemas.openxmlformats.org/officeDocument/2006/relationships" xmlns:a="http://schemas.openxmlformats.org/drawingml/2006/main" r:embed="Rf4873bc8005c4c98"/>
          <a:srcRect xmlns:a="http://schemas.openxmlformats.org/drawingml/2006/main" l="8000" t="0" r="8000" b="16000"/>
          <a:stretch xmlns:a="http://schemas.openxmlformats.org/drawingml/2006/main"/>
        </p:blipFill>
        <p:spPr>
          <a:xfrm xmlns:a="http://schemas.openxmlformats.org/drawingml/2006/main">
            <a:off x="590550" y="2238375"/>
            <a:ext cx="2000250" cy="2000250"/>
          </a:xfrm>
          <a:prstGeom xmlns:a="http://schemas.openxmlformats.org/drawingml/2006/main" prst="ellipse">
            <a:avLst/>
          </a:prstGeom>
        </p:spPr>
      </p:pic>
      <p:pic>
        <p:nvPicPr>
          <p:cNvPr id="18" name="">
            <a:extLst xmlns:a="http://schemas.openxmlformats.org/drawingml/2006/main">
              <a:ext uri="{FF2B5EF4-FFF2-40B4-BE49-F238E27FC236}">
                <a16:creationId xmlns:a16="http://schemas.microsoft.com/office/drawing/2014/main" id="{E14C4DF3-5EB5-465C-85CB-A197F391D015}"/>
              </a:ext>
            </a:extLst>
          </p:cNvPr>
          <p:cNvPicPr>
            <a:picLocks xmlns:a="http://schemas.openxmlformats.org/drawingml/2006/main" noChangeAspect="1"/>
          </p:cNvPicPr>
          <p:nvPr/>
        </p:nvPicPr>
        <p:blipFill>
          <a:blip xmlns:r="http://schemas.openxmlformats.org/officeDocument/2006/relationships" xmlns:a="http://schemas.openxmlformats.org/drawingml/2006/main" r:embed="R908cd7f9c9884a90"/>
          <a:srcRect xmlns:a="http://schemas.openxmlformats.org/drawingml/2006/main" l="16000" t="10000" r="21500" b="27500"/>
          <a:stretch xmlns:a="http://schemas.openxmlformats.org/drawingml/2006/main"/>
        </p:blipFill>
        <p:spPr>
          <a:xfrm xmlns:a="http://schemas.openxmlformats.org/drawingml/2006/main">
            <a:off x="6534150" y="2238375"/>
            <a:ext cx="2000250" cy="2000250"/>
          </a:xfrm>
          <a:prstGeom xmlns:a="http://schemas.openxmlformats.org/drawingml/2006/main" prst="ellipse">
            <a:avLst/>
          </a:prstGeom>
        </p:spPr>
      </p:pic>
      <p:pic>
        <p:nvPicPr>
          <p:cNvPr id="19" name="">
            <a:extLst xmlns:a="http://schemas.openxmlformats.org/drawingml/2006/main">
              <a:ext uri="{FF2B5EF4-FFF2-40B4-BE49-F238E27FC236}">
                <a16:creationId xmlns:a16="http://schemas.microsoft.com/office/drawing/2014/main" id="{16AB9D55-27C5-43D8-B784-E15D35B475D4}"/>
              </a:ext>
            </a:extLst>
          </p:cNvPr>
          <p:cNvPicPr>
            <a:picLocks xmlns:a="http://schemas.openxmlformats.org/drawingml/2006/main" noChangeAspect="1"/>
          </p:cNvPicPr>
          <p:nvPr/>
        </p:nvPicPr>
        <p:blipFill>
          <a:blip xmlns:r="http://schemas.openxmlformats.org/officeDocument/2006/relationships" xmlns:a="http://schemas.openxmlformats.org/drawingml/2006/main" r:embed="Ra1ae411bbd7c4d4a"/>
          <a:srcRect xmlns:a="http://schemas.openxmlformats.org/drawingml/2006/main" l="0" t="0" r="0" b="0"/>
          <a:stretch xmlns:a="http://schemas.openxmlformats.org/drawingml/2006/main"/>
        </p:blipFill>
        <p:spPr>
          <a:xfrm xmlns:a="http://schemas.openxmlformats.org/drawingml/2006/main">
            <a:off x="3371850" y="5257800"/>
            <a:ext cx="1333500" cy="1333500"/>
          </a:xfrm>
          <a:prstGeom xmlns:a="http://schemas.openxmlformats.org/drawingml/2006/main" prst="ellipse">
            <a:avLst/>
          </a:prstGeom>
        </p:spPr>
      </p:pic>
    </p:spTree>
    <p:extLst>
      <p:ext uri="{BB962C8B-B14F-4D97-AF65-F5344CB8AC3E}">
        <p14:creationId xmlns:p14="http://schemas.microsoft.com/office/powerpoint/2010/main" val="839296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2026-10-11T06:42:10.3780000Z</dcterms:created>
  <dcterms:modified xsi:type="dcterms:W3CDTF">2026-10-11T06:42:10.3780000Z</dcterms:modified>
</coreProperties>
</file>