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jpeg" ContentType="image/jpeg"/>
</Types>
</file>

<file path=_rels/.rels>&#65279;<?xml version="1.0" encoding="utf-8"?><Relationships xmlns="http://schemas.openxmlformats.org/package/2006/relationships"><Relationship Type="http://schemas.openxmlformats.org/package/2006/relationships/metadata/core-properties" Target="/docProps/core.xml" Id="Ra68cf74c869e4507" /><Relationship Type="http://schemas.openxmlformats.org/officeDocument/2006/relationships/extended-properties" Target="/docProps/app.xml" Id="R1e5558a562f449c9" /><Relationship Type="http://schemas.openxmlformats.org/officeDocument/2006/relationships/officeDocument" Target="/ppt/presentation.xml" Id="R2c6adc242ae34b04" /></Relationships>
</file>

<file path=ppt/presentation.xml><?xml version="1.0" encoding="utf-8"?>
<p:presentation xmlns:p="http://schemas.openxmlformats.org/presentationml/2006/main">
  <p:sldMasterIdLst>
    <p:sldMasterId xmlns:r="http://schemas.openxmlformats.org/officeDocument/2006/relationships" id="2147483648" r:id="Ra87e3322d0674b78"/>
  </p:sldMasterIdLst>
  <p:notesMasterIdLst>
    <p:notesMasterId xmlns:r="http://schemas.openxmlformats.org/officeDocument/2006/relationships" r:id="Rbf65670d5d3043db"/>
  </p:notesMasterIdLst>
  <p:sldIdLst>
    <p:sldId xmlns:r="http://schemas.openxmlformats.org/officeDocument/2006/relationships" id="256" r:id="R332310bcf5144d8a"/>
    <p:sldId xmlns:r="http://schemas.openxmlformats.org/officeDocument/2006/relationships" id="257" r:id="R4d7d62d041aa43be"/>
    <p:sldId xmlns:r="http://schemas.openxmlformats.org/officeDocument/2006/relationships" id="258" r:id="Rbca9a7e9f231443e"/>
    <p:sldId xmlns:r="http://schemas.openxmlformats.org/officeDocument/2006/relationships" id="259" r:id="R6988533fbb2e4836"/>
    <p:sldId xmlns:r="http://schemas.openxmlformats.org/officeDocument/2006/relationships" id="260" r:id="R7ee64dbbd70f4641"/>
    <p:sldId xmlns:r="http://schemas.openxmlformats.org/officeDocument/2006/relationships" id="261" r:id="Re5e9f766a53544b5"/>
    <p:sldId xmlns:r="http://schemas.openxmlformats.org/officeDocument/2006/relationships" id="262" r:id="Rac44389145a2464f"/>
    <p:sldId xmlns:r="http://schemas.openxmlformats.org/officeDocument/2006/relationships" id="263" r:id="Rd5a11624c6aa4f2a"/>
    <p:sldId xmlns:r="http://schemas.openxmlformats.org/officeDocument/2006/relationships" id="264" r:id="R85b57b40da1c4852"/>
    <p:sldId xmlns:r="http://schemas.openxmlformats.org/officeDocument/2006/relationships" id="265" r:id="Rc93048e43d104eb1"/>
    <p:sldId xmlns:r="http://schemas.openxmlformats.org/officeDocument/2006/relationships" id="266" r:id="Rf1a39dd0f2f841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75ba9edea4a14" /><Relationship Type="http://schemas.openxmlformats.org/officeDocument/2006/relationships/slideMaster" Target="/ppt/slideMasters/slideMaster1.xml" Id="Ra87e3322d0674b78" /><Relationship Type="http://schemas.openxmlformats.org/officeDocument/2006/relationships/notesMaster" Target="/ppt/notesMasters/notesMaster1.xml" Id="Rbf65670d5d3043db" /><Relationship Type="http://schemas.openxmlformats.org/officeDocument/2006/relationships/presProps" Target="/ppt/presProps.xml" Id="Rc512f1da5490464d" /><Relationship Type="http://schemas.openxmlformats.org/officeDocument/2006/relationships/tableStyles" Target="/ppt/tableStyles.xml" Id="R1b8bc51ce1d84f67" /><Relationship Type="http://schemas.openxmlformats.org/officeDocument/2006/relationships/slide" Target="/ppt/slides/slide1.xml" Id="R332310bcf5144d8a" /><Relationship Type="http://schemas.openxmlformats.org/officeDocument/2006/relationships/slide" Target="/ppt/slides/slide2.xml" Id="R4d7d62d041aa43be" /><Relationship Type="http://schemas.openxmlformats.org/officeDocument/2006/relationships/slide" Target="/ppt/slides/slide3.xml" Id="Rbca9a7e9f231443e" /><Relationship Type="http://schemas.openxmlformats.org/officeDocument/2006/relationships/slide" Target="/ppt/slides/slide4.xml" Id="R6988533fbb2e4836" /><Relationship Type="http://schemas.openxmlformats.org/officeDocument/2006/relationships/slide" Target="/ppt/slides/slide5.xml" Id="R7ee64dbbd70f4641" /><Relationship Type="http://schemas.openxmlformats.org/officeDocument/2006/relationships/slide" Target="/ppt/slides/slide6.xml" Id="Re5e9f766a53544b5" /><Relationship Type="http://schemas.openxmlformats.org/officeDocument/2006/relationships/slide" Target="/ppt/slides/slide7.xml" Id="Rac44389145a2464f" /><Relationship Type="http://schemas.openxmlformats.org/officeDocument/2006/relationships/slide" Target="/ppt/slides/slide8.xml" Id="Rd5a11624c6aa4f2a" /><Relationship Type="http://schemas.openxmlformats.org/officeDocument/2006/relationships/slide" Target="/ppt/slides/slide9.xml" Id="R85b57b40da1c4852" /><Relationship Type="http://schemas.openxmlformats.org/officeDocument/2006/relationships/slide" Target="/ppt/slides/slide10.xml" Id="Rc93048e43d104eb1" /><Relationship Type="http://schemas.openxmlformats.org/officeDocument/2006/relationships/slide" Target="/ppt/slides/slide11.xml" Id="Rf1a39dd0f2f841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1b7b7db8094d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0a8fe6fe0c48fc" /><Relationship Type="http://schemas.openxmlformats.org/officeDocument/2006/relationships/notesMaster" Target="/ppt/notesMasters/notesMaster1.xml" Id="R36c024d520e145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a70c695d6b4172" /><Relationship Type="http://schemas.openxmlformats.org/officeDocument/2006/relationships/notesMaster" Target="/ppt/notesMasters/notesMaster1.xml" Id="Rb56f0953cef34b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7c048d07164d0c" /><Relationship Type="http://schemas.openxmlformats.org/officeDocument/2006/relationships/notesMaster" Target="/ppt/notesMasters/notesMaster1.xml" Id="R7fe7cddfbe5d4d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e7e12b96d4623" /><Relationship Type="http://schemas.openxmlformats.org/officeDocument/2006/relationships/notesMaster" Target="/ppt/notesMasters/notesMaster1.xml" Id="R194edf11fcc8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98d53940044d2d" /><Relationship Type="http://schemas.openxmlformats.org/officeDocument/2006/relationships/notesMaster" Target="/ppt/notesMasters/notesMaster1.xml" Id="R588ef4c630e44e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47a83b9b024eaf" /><Relationship Type="http://schemas.openxmlformats.org/officeDocument/2006/relationships/notesMaster" Target="/ppt/notesMasters/notesMaster1.xml" Id="Rfeed92eaa3ad4d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4aac8f307e40cf" /><Relationship Type="http://schemas.openxmlformats.org/officeDocument/2006/relationships/notesMaster" Target="/ppt/notesMasters/notesMaster1.xml" Id="R12b2170db3934c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38f8e8dc0844b9" /><Relationship Type="http://schemas.openxmlformats.org/officeDocument/2006/relationships/notesMaster" Target="/ppt/notesMasters/notesMaster1.xml" Id="R37c0ce675f1243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3313cca3e042a6" /><Relationship Type="http://schemas.openxmlformats.org/officeDocument/2006/relationships/notesMaster" Target="/ppt/notesMasters/notesMaster1.xml" Id="R7d609e0a00b24f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38aeaf5f264fe1" /><Relationship Type="http://schemas.openxmlformats.org/officeDocument/2006/relationships/notesMaster" Target="/ppt/notesMasters/notesMaster1.xml" Id="Rac32f889ef1f4f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222e37b19f47c0" /><Relationship Type="http://schemas.openxmlformats.org/officeDocument/2006/relationships/notesMaster" Target="/ppt/notesMasters/notesMaster1.xml" Id="R2143b7873da544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InCreditble helps first-time investors understand and buy corporate bonds, starting with a small amount. We are designing for people like our parents, who want a clear first step.</a:t>
            </a:r>
          </a:p>
          <a:p xmlns:a="http://schemas.openxmlformats.org/drawingml/2006/main">
            <a:r>
              <a:t/>
            </a:r>
          </a:p>
          <a:p xmlns:a="http://schemas.openxmlformats.org/drawingml/2006/main">
            <a:r>
              <a:t>SOURCES AND CONTEXT</a:t>
            </a:r>
          </a:p>
          <a:p xmlns:a="http://schemas.openxmlformats.org/drawingml/2006/main">
            <a:r>
              <a:t>Product positioning from founder and current prototype. All functionality shown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Across more than ten customer discovery conversations, I heard frustration about finding bonds, not knowing where to begin, and wanting to invest only a small amount. These comments shaped our question: can a beginner understand a bond purchase without someone coaching them?</a:t>
            </a:r>
          </a:p>
          <a:p xmlns:a="http://schemas.openxmlformats.org/drawingml/2006/main">
            <a:r>
              <a:t/>
            </a:r>
          </a:p>
          <a:p xmlns:a="http://schemas.openxmlformats.org/drawingml/2006/main">
            <a:r>
              <a:t>SOURCES AND CONTEXT</a:t>
            </a:r>
          </a:p>
          <a:p xmlns:a="http://schemas.openxmlformats.org/drawingml/2006/main">
            <a:r>
              <a:t>10+ conversations: founder report in this chat, October 10, 2026. Quotes: founder-supplied customer comments, edited for clarity. No participant demographics, prevalence or conversion rates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The U.S. corporate bond market has twelve point one trillion dollars outstanding. That is the underlying asset market, not our revenue opportunity. Our initial customer is a U.S. adult with savings who is new to individual bonds, especially an older investor seeking a simpler experience.</a:t>
            </a:r>
          </a:p>
          <a:p xmlns:a="http://schemas.openxmlformats.org/drawingml/2006/main">
            <a:r>
              <a:t/>
            </a:r>
          </a:p>
          <a:p xmlns:a="http://schemas.openxmlformats.org/drawingml/2006/main">
            <a:r>
              <a:t>SOURCES AND CONTEXT</a:t>
            </a:r>
          </a:p>
          <a:p xmlns:a="http://schemas.openxmlformats.org/drawingml/2006/main">
            <a:r>
              <a:t>SIFMA, US Corporate Bonds Statistics, published October 5, 2026: outstanding $12.1T as of 2Q26; $66.7B average daily trading volume, YTD through September 2026. https://www.sifma.org/research/statistics/us-corporate-bonds-statistics</a:t>
            </a:r>
          </a:p>
          <a:p xmlns:a="http://schemas.openxmlformats.org/drawingml/2006/main">
            <a:r>
              <a:t>Initial customer segment is a founder hypothesis. No serviceable market or revenue TAM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TIMING: 20 seconds</a:t>
            </a:r>
          </a:p>
          <a:p>
            <a:r>
              <a:t/>
            </a:r>
          </a:p>
          <a:p>
            <a:r>
              <a:t>Fidelity supports filtered bond search. Robinhood offers bond exposure through ETFs, while Webull offers managed bond portfolios. Our focus is an explained path to an individual corporate bond. We are testing whether fewer choices and visible payment terms help beginners make a decision they understand.</a:t>
            </a:r>
          </a:p>
          <a:p>
            <a:r>
              <a:t/>
            </a:r>
          </a:p>
          <a:p>
            <a:r>
              <a:t>SOURCES AND CONTEXT</a:t>
            </a:r>
          </a:p>
          <a:p>
            <a:r>
              <a:t/>
            </a:r>
          </a:p>
          <a:p>
            <a:r>
              <a:t>Official sources checked October 10, 2026.</a:t>
            </a:r>
          </a:p>
          <a:p>
            <a:r>
              <a:t>Fidelity: https://www.fidelity.com/webcontent/ap002390-mlo-content/20.04/help/learn_searching_fixed_income_inventory.shtml</a:t>
            </a:r>
          </a:p>
          <a:p>
            <a:r>
              <a:t>Robinhood supported investments: https://robinhood.com/us/en/support/articles/investments-you-can-make-on-robinhood/</a:t>
            </a:r>
          </a:p>
          <a:p>
            <a:r>
              <a:t>Robinhood fractional shares: https://robinhood.com/us/en/support/articles/fractional-shares/</a:t>
            </a:r>
          </a:p>
          <a:p>
            <a:r>
              <a:t>Robinhood example bond ETF: https://robinhood.com/us/en/stocks/DFSD/</a:t>
            </a:r>
          </a:p>
          <a:p>
            <a:r>
              <a:t>Webull managed corporate High Income portfolio: https://www.webull.com/help/faq/11139</a:t>
            </a:r>
          </a:p>
          <a:p>
            <a:r>
              <a:t/>
            </a:r>
          </a:p>
          <a:p>
            <a:r>
              <a:t>Robinhood is an adjacent retail investing alternative. The ETF-share minimum is not an individual bond minimum. Robinhood lists bonds and fixed-income trading as unsupported. Eligible stocks and ETFs support fractional orders from $1. Comparisons summarize documented workflows, not execution quality or absence of other competitor features. Webull also offers separate self-directed bonds. InCreditble $10 minimum is a prototype design, not a live brokerage offering.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Meet InCreditble: a corporate-bond trading experience for first-time investors. Start small, choose bonds around your goals, and get help in plain English.</a:t>
            </a:r>
          </a:p>
          <a:p xmlns:a="http://schemas.openxmlformats.org/drawingml/2006/main">
            <a:r>
              <a:t/>
            </a:r>
          </a:p>
          <a:p xmlns:a="http://schemas.openxmlformats.org/drawingml/2006/main">
            <a:r>
              <a:t>Source: actual prototype opening, demo/media/welcome.jpg. Static screenshot. All trading, account connections and assistant responses are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Users tell us their experience, yield target, timeframe, industry and budget. The prototype returns up to three matches and explains the differences. Optional assistant responses help users understand a company and what could go wrong. Explanation depth adapts to experience.</a:t>
            </a:r>
          </a:p>
          <a:p xmlns:a="http://schemas.openxmlformats.org/drawingml/2006/main">
            <a:r>
              <a:t/>
            </a:r>
          </a:p>
          <a:p xmlns:a="http://schemas.openxmlformats.org/drawingml/2006/main">
            <a:r>
              <a:t>SOURCES AND CONTEXT</a:t>
            </a:r>
          </a:p>
          <a:p xmlns:a="http://schemas.openxmlformats.org/drawingml/2006/main">
            <a:r>
              <a:t>Current prototype and actual demo screenshot. Matching uses deterministic filters and ranking. Assistant responses are simulated; no live model connected. Three matches are a selection limit, not a claim of market-wide optimality.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A twenty-five-dollar budget buys part of a bond in the demo. Before approval, the user sees the final cash cost, expected interest and repayment date. After confirmation, cash and holdings update, and the payment schedule includes the new position.</a:t>
            </a:r>
          </a:p>
          <a:p xmlns:a="http://schemas.openxmlformats.org/drawingml/2006/main">
            <a:r>
              <a:t/>
            </a:r>
          </a:p>
          <a:p xmlns:a="http://schemas.openxmlformats.org/drawingml/2006/main">
            <a:r>
              <a:t>SOURCES AND CONTEXT</a:t>
            </a:r>
          </a:p>
          <a:p xmlns:a="http://schemas.openxmlformats.org/drawingml/2006/main">
            <a:r>
              <a:t>Actual prototype transaction captured October 10, 2026: $25 budget, $24.99 cost, $24.96 face, $2,475.01 cash remaining, $0.56 expected semiannual interest. Prices and dates are fictional demo data. Fractional execution and custody in a live product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Our progress is early but concrete: more than ten discovery conversations and a working prototype with a complete simulated transaction. Mentor feedback helped narrow the scope from wealth management to bond trading. We still need behavioral evidence of understanding, demand and willingness to pay.</a:t>
            </a:r>
          </a:p>
          <a:p xmlns:a="http://schemas.openxmlformats.org/drawingml/2006/main">
            <a:r>
              <a:t/>
            </a:r>
          </a:p>
          <a:p xmlns:a="http://schemas.openxmlformats.org/drawingml/2006/main">
            <a:r>
              <a:t>SOURCES AND CONTEXT</a:t>
            </a:r>
          </a:p>
          <a:p xmlns:a="http://schemas.openxmlformats.org/drawingml/2006/main">
            <a:r>
              <a:t>10+ customer discovery conversations: founder report, October 10, 2026. Prototype and mentor-directed iterations are visible in the local project and conversation. No paid users, revenue, funded accounts or waitlist count has been established in supplied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The wishlist we are testing is simple: explain unfamiliar terms, let me start small, and show when I might receive money. We also want to test whether keeping existing accounts visible makes a second platform worthwhile.</a:t>
            </a:r>
          </a:p>
          <a:p xmlns:a="http://schemas.openxmlformats.org/drawingml/2006/main">
            <a:r>
              <a:t/>
            </a:r>
          </a:p>
          <a:p xmlns:a="http://schemas.openxmlformats.org/drawingml/2006/main">
            <a:r>
              <a:t>SOURCES AND CONTEXT</a:t>
            </a:r>
          </a:p>
          <a:p xmlns:a="http://schemas.openxmlformats.org/drawingml/2006/main">
            <a:r>
              <a:t>Working wishlist synthesized from founder-supplied customer comments and mentor feedback, not a ranked customer survey. Small starting amounts and unfamiliarity came from customer quotes. Payment clarity is a product response. Existing-account visibility follows mentor feedback and the second-platform objection. No waitlist signup total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Next, we will run unassisted tests with ten first-time investors and check whether they can explain the cost, payment timing and loss risk. We will measure opt-in interest, test pricing, and explore brokerage partners for real execution. I am looking for pilot participants and introductions to bond infrastructure partners.</a:t>
            </a:r>
          </a:p>
          <a:p xmlns:a="http://schemas.openxmlformats.org/drawingml/2006/main">
            <a:r>
              <a:t/>
            </a:r>
          </a:p>
          <a:p xmlns:a="http://schemas.openxmlformats.org/drawingml/2006/main">
            <a:r>
              <a:t>SOURCES AND CONTEXT</a:t>
            </a:r>
          </a:p>
          <a:p xmlns:a="http://schemas.openxmlformats.org/drawingml/2006/main">
            <a:r>
              <a:t>Proposed next milestones, not completed traction: ten unassisted tests; demand and pricing research; execution, custody and fractional economics exploration. No partnership, launch approval or sustainable revenue model claimed. Read-only aggregation and standalone versus embedded distribution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Contact our team on LinkedIn. Ivy Pei, Founder. Ren Jie T., CTO. Special thanks to Pink Pan, our mentor.</a:t>
            </a:r>
          </a:p>
          <a:p>
            <a:r>
              <a:t/>
            </a:r>
          </a:p>
          <a:p>
            <a:r>
              <a:t>Portraits supplied by the founder on October 10, 2026. Original photos retained; circular crops are native layout masks. Only team members have QR codes.</a:t>
            </a:r>
          </a:p>
          <a:p>
            <a:r>
              <a:t>Founder: https://www.linkedin.com/in/ivypei/</a:t>
            </a:r>
          </a:p>
          <a:p>
            <a:r>
              <a:t>CTO: https://www.linkedin.com/in/ren-jie-t-619a6b1aa/</a:t>
            </a:r>
          </a:p>
          <a:p>
            <a:r>
              <a:t>Mentor: https://www.linkedin.com/in/t-h-p/</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9a237e0c724f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f9ee92c3d54e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80b6c5b7b14d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385f9261cd46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d7251201fe4f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2e0e7949ab41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CEFA52-B5AB-47C3-BACA-CE5CEF50AB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A509B2-6D31-4D28-A2FD-8443AB583B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59E41E-74EA-4737-873D-F044BF9D41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85DADC-B95B-4DCB-9F36-AE13F36B5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DC81EB-7D07-42F0-BAE9-840863E43D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879CEB-4C18-4C44-B61A-8BE42CE91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132DAF-9E79-4EBA-AB04-AB504E202E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68D81-2B94-44C2-8DAB-4637DCBF43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E8E10-72FF-409A-AD09-E63EAEF58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C2DA00-55AB-4DBE-AF35-4E53EC627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32e72192ce472b" /><Relationship Type="http://schemas.openxmlformats.org/officeDocument/2006/relationships/slideLayout" Target="/ppt/slideLayouts/slideLayout1.xml" Id="Re4a9c945b7d84087" /><Relationship Type="http://schemas.openxmlformats.org/officeDocument/2006/relationships/slideLayout" Target="/ppt/slideLayouts/slideLayout2.xml" Id="Rf857922e2dc0412d" /><Relationship Type="http://schemas.openxmlformats.org/officeDocument/2006/relationships/slideLayout" Target="/ppt/slideLayouts/slideLayout3.xml" Id="Rb82c2166939f4156" /><Relationship Type="http://schemas.openxmlformats.org/officeDocument/2006/relationships/slideLayout" Target="/ppt/slideLayouts/slideLayout4.xml" Id="Rec085128083e40ad" /><Relationship Type="http://schemas.openxmlformats.org/officeDocument/2006/relationships/slideLayout" Target="/ppt/slideLayouts/slideLayout5.xml" Id="R56aa32bd70d140eb" /><Relationship Type="http://schemas.openxmlformats.org/officeDocument/2006/relationships/slideLayout" Target="/ppt/slideLayouts/slideLayout6.xml" Id="R29cba0e5aae64e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a9c945b7d84087"/>
    <p:sldLayoutId xmlns:r="http://schemas.openxmlformats.org/officeDocument/2006/relationships" id="2147483650" r:id="Rf857922e2dc0412d"/>
    <p:sldLayoutId xmlns:r="http://schemas.openxmlformats.org/officeDocument/2006/relationships" id="2147483651" r:id="Rb82c2166939f4156"/>
    <p:sldLayoutId xmlns:r="http://schemas.openxmlformats.org/officeDocument/2006/relationships" id="2147483652" r:id="Rec085128083e40ad"/>
    <p:sldLayoutId xmlns:r="http://schemas.openxmlformats.org/officeDocument/2006/relationships" id="2147483653" r:id="R56aa32bd70d140eb"/>
    <p:sldLayoutId xmlns:r="http://schemas.openxmlformats.org/officeDocument/2006/relationships" id="2147483654" r:id="R29cba0e5aae64e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3a465ecde647b6" /><Relationship Type="http://schemas.openxmlformats.org/officeDocument/2006/relationships/image" Target="/ppt/media/image.png" Id="Radb905bd8abc4d2b" /><Relationship Type="http://schemas.openxmlformats.org/officeDocument/2006/relationships/image" Target="/ppt/media/image2.png" Id="R188f11bff2a9403e" /><Relationship Type="http://schemas.openxmlformats.org/officeDocument/2006/relationships/notesSlide" Target="/ppt/notesSlides/notesSlide1.xml" Id="Rbf00ff87be7c45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c8129a3ea84fdc" /><Relationship Type="http://schemas.openxmlformats.org/officeDocument/2006/relationships/notesSlide" Target="/ppt/notesSlides/notesSlide2.xml" Id="R1c3af3d2d0d144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c9114eecf74955" /><Relationship Type="http://schemas.openxmlformats.org/officeDocument/2006/relationships/notesSlide" Target="/ppt/notesSlides/notesSlide3.xml" Id="Ra4cd8d36658941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1a3d0dab1e4888" /><Relationship Type="http://schemas.openxmlformats.org/officeDocument/2006/relationships/notesSlide" Target="/ppt/notesSlides/notesSlide4.xml" Id="Rd8084198d1a046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445e0a31744bda" /><Relationship Type="http://schemas.openxmlformats.org/officeDocument/2006/relationships/image" Target="/ppt/media/image3.png" Id="Rc6d8819197734dbf" /><Relationship Type="http://schemas.openxmlformats.org/officeDocument/2006/relationships/notesSlide" Target="/ppt/notesSlides/notesSlide5.xml" Id="R10e4ababc0fd49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c4b30075c54e6c" /><Relationship Type="http://schemas.openxmlformats.org/officeDocument/2006/relationships/image" Target="/ppt/media/image4.png" Id="Rb43b8008b05a4e28" /><Relationship Type="http://schemas.openxmlformats.org/officeDocument/2006/relationships/notesSlide" Target="/ppt/notesSlides/notesSlide6.xml" Id="Rda0f48920f65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ffc27be2ae4d95" /><Relationship Type="http://schemas.openxmlformats.org/officeDocument/2006/relationships/image" Target="/ppt/media/image5.png" Id="Rc9452b4f260d43a7" /><Relationship Type="http://schemas.openxmlformats.org/officeDocument/2006/relationships/notesSlide" Target="/ppt/notesSlides/notesSlide7.xml" Id="R1a708a6f251342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c26b0b9ec44f7a" /><Relationship Type="http://schemas.openxmlformats.org/officeDocument/2006/relationships/image" Target="/ppt/media/image6.png" Id="R833fabc1425f4c88" /><Relationship Type="http://schemas.openxmlformats.org/officeDocument/2006/relationships/notesSlide" Target="/ppt/notesSlides/notesSlide8.xml" Id="R14b0e5146db240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c8acc8adeb4e13" /><Relationship Type="http://schemas.openxmlformats.org/officeDocument/2006/relationships/notesSlide" Target="/ppt/notesSlides/notesSlide9.xml" Id="R7556f995b7674a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c8f5a15fde4f06" /><Relationship Type="http://schemas.openxmlformats.org/officeDocument/2006/relationships/image" Target="/ppt/media/image7.png" Id="R02e4779e605c49d5" /><Relationship Type="http://schemas.openxmlformats.org/officeDocument/2006/relationships/image" Target="/ppt/media/image8.png" Id="Rd2d0b5d5541d4d7f" /><Relationship Type="http://schemas.openxmlformats.org/officeDocument/2006/relationships/notesSlide" Target="/ppt/notesSlides/notesSlide10.xml" Id="Rd16614c28b954083"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a2617a7976df4186" /><ns0:Relationship Type="http://schemas.openxmlformats.org/officeDocument/2006/relationships/image" Target="/ppt/media/contact-v7-1.png" Id="R8c7e1f63b3364a70" /><ns0:Relationship Type="http://schemas.openxmlformats.org/officeDocument/2006/relationships/image" Target="/ppt/media/contact-v7-3.png" Id="R23c962f353ed4096" /><ns0:Relationship Type="http://schemas.openxmlformats.org/officeDocument/2006/relationships/image" Target="/ppt/media/contact-v7-6.png" Id="R80c2a5f17f874371" /><ns0:Relationship Type="http://schemas.openxmlformats.org/officeDocument/2006/relationships/image" Target="/ppt/media/contact-v7-10.png" Id="Re2c81a020c0b4cfa" /><ns0:Relationship Type="http://schemas.openxmlformats.org/officeDocument/2006/relationships/image" Target="/ppt/media/contact-v7-11.png" Id="Ra54771dbaef74156" /><ns0:Relationship Type="http://schemas.openxmlformats.org/officeDocument/2006/relationships/image" Target="/ppt/media/contact-v7-12.jpeg" Id="R0c631987e9fd47ed" /><ns0:Relationship Type="http://schemas.openxmlformats.org/officeDocument/2006/relationships/notesSlide" Target="/ppt/notesSlides/notesSlide11.xml" Id="Re47f837d27c4428a" /></ns0:Relationships>
</file>

<file path=ppt/slides/slide1.xml><?xml version="1.0" encoding="utf-8"?>
<p:sld xmlns:p="http://schemas.openxmlformats.org/presentationml/2006/main">
  <p:cSld>
    <p:bg>
      <p:bgPr>
        <a:solidFill xmlns:a="http://schemas.openxmlformats.org/drawingml/2006/main">
          <a:srgbClr val="D9FF6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F0F3828-8BF8-421E-ACD4-E27BDD070330}"/>
              </a:ext>
            </a:extLst>
          </p:cNvPr>
          <p:cNvPicPr>
            <a:picLocks xmlns:a="http://schemas.openxmlformats.org/drawingml/2006/main" noChangeAspect="1"/>
          </p:cNvPicPr>
          <p:nvPr/>
        </p:nvPicPr>
        <p:blipFill>
          <a:blip xmlns:r="http://schemas.openxmlformats.org/officeDocument/2006/relationships" xmlns:a="http://schemas.openxmlformats.org/drawingml/2006/main" r:embed="Radb905bd8abc4d2b"/>
          <a:stretch xmlns:a="http://schemas.openxmlformats.org/drawingml/2006/main"/>
        </p:blipFill>
        <p:spPr>
          <a:xfrm xmlns:a="http://schemas.openxmlformats.org/drawingml/2006/main">
            <a:off x="552450" y="492456"/>
            <a:ext cx="2724150" cy="634338"/>
          </a:xfrm>
          <a:prstGeom xmlns:a="http://schemas.openxmlformats.org/drawingml/2006/main" prst="rect">
            <a:avLst/>
          </a:prstGeom>
        </p:spPr>
      </p:pic>
      <p:sp>
        <p:nvSpPr>
          <p:cNvPr id="2" name="Your first&#10;bond.">
            <a:extLst xmlns:a="http://schemas.openxmlformats.org/drawingml/2006/main">
              <a:ext uri="{FF2B5EF4-FFF2-40B4-BE49-F238E27FC236}">
                <a16:creationId xmlns:a16="http://schemas.microsoft.com/office/drawing/2014/main" id="{DE93EEF6-638B-4D31-BCD9-C21DF1D31557}"/>
              </a:ext>
            </a:extLst>
          </p:cNvPr>
          <p:cNvSpPr>
            <a:spLocks xmlns:a="http://schemas.openxmlformats.org/drawingml/2006/main" noGrp="1"/>
          </p:cNvSpPr>
          <p:nvPr/>
        </p:nvSpPr>
        <p:spPr>
          <a:xfrm xmlns:a="http://schemas.openxmlformats.org/drawingml/2006/main">
            <a:off x="552450" y="1866900"/>
            <a:ext cx="690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241634"/>
                </a:solidFill>
                <a:latin typeface="Avenir Next"/>
                <a:ea typeface="Avenir Next"/>
                <a:cs typeface="Avenir Next"/>
              </a:defRPr>
            </a:defPPr>
          </a:lstStyle>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Your first</a:t>
            </a:r>
          </a:p>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bond.</a:t>
            </a:r>
          </a:p>
        </p:txBody>
      </p:sp>
      <p:sp>
        <p:nvSpPr>
          <p:cNvPr id="3" name="At your pace.">
            <a:extLst xmlns:a="http://schemas.openxmlformats.org/drawingml/2006/main">
              <a:ext uri="{FF2B5EF4-FFF2-40B4-BE49-F238E27FC236}">
                <a16:creationId xmlns:a16="http://schemas.microsoft.com/office/drawing/2014/main" id="{9C14D25B-EAB9-4BEA-B3A5-CA53AB22BBD9}"/>
              </a:ext>
            </a:extLst>
          </p:cNvPr>
          <p:cNvSpPr>
            <a:spLocks xmlns:a="http://schemas.openxmlformats.org/drawingml/2006/main" noGrp="1"/>
          </p:cNvSpPr>
          <p:nvPr/>
        </p:nvSpPr>
        <p:spPr>
          <a:xfrm xmlns:a="http://schemas.openxmlformats.org/drawingml/2006/main">
            <a:off x="590550" y="4381500"/>
            <a:ext cx="762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7445FF"/>
                </a:solidFill>
                <a:latin typeface="Avenir Next"/>
                <a:ea typeface="Avenir Next"/>
                <a:cs typeface="Avenir Next"/>
              </a:defRPr>
            </a:defPPr>
          </a:lstStyle>
          <a:p xmlns:a="http://schemas.openxmlformats.org/drawingml/2006/main">
            <a:pPr>
              <a:buNone/>
              <a:defRPr sz="5775" b="1">
                <a:solidFill>
                  <a:srgbClr val="7445FF"/>
                </a:solidFill>
                <a:latin typeface="Avenir Next"/>
                <a:ea typeface="Avenir Next"/>
                <a:cs typeface="Avenir Next"/>
              </a:defRPr>
            </a:pPr>
            <a:r>
              <a:rPr sz="5775" b="1">
                <a:solidFill>
                  <a:srgbClr val="7445FF"/>
                </a:solidFill>
                <a:latin typeface="Avenir Next"/>
                <a:ea typeface="Avenir Next"/>
                <a:cs typeface="Avenir Next"/>
              </a:rPr>
              <a:t>At your pace.</a:t>
            </a:r>
          </a:p>
        </p:txBody>
      </p:sp>
      <p:pic>
        <p:nvPicPr>
          <p:cNvPr id="4" name="">
            <a:extLst xmlns:a="http://schemas.openxmlformats.org/drawingml/2006/main">
              <a:ext uri="{FF2B5EF4-FFF2-40B4-BE49-F238E27FC236}">
                <a16:creationId xmlns:a16="http://schemas.microsoft.com/office/drawing/2014/main" id="{AF7E4857-DC3E-43A3-9E21-2993A9998C51}"/>
              </a:ext>
            </a:extLst>
          </p:cNvPr>
          <p:cNvPicPr>
            <a:picLocks xmlns:a="http://schemas.openxmlformats.org/drawingml/2006/main" noChangeAspect="1"/>
          </p:cNvPicPr>
          <p:nvPr/>
        </p:nvPicPr>
        <p:blipFill>
          <a:blip xmlns:r="http://schemas.openxmlformats.org/officeDocument/2006/relationships" xmlns:a="http://schemas.openxmlformats.org/drawingml/2006/main" r:embed="R188f11bff2a9403e"/>
          <a:stretch xmlns:a="http://schemas.openxmlformats.org/drawingml/2006/main"/>
        </p:blipFill>
        <p:spPr>
          <a:xfrm xmlns:a="http://schemas.openxmlformats.org/drawingml/2006/main">
            <a:off x="8420100" y="2152650"/>
            <a:ext cx="2886075" cy="2886075"/>
          </a:xfrm>
          <a:prstGeom xmlns:a="http://schemas.openxmlformats.org/drawingml/2006/main" prst="rect">
            <a:avLst/>
          </a:prstGeom>
        </p:spPr>
      </p:pic>
      <p:sp>
        <p:nvSpPr>
          <p:cNvPr id="5" name="Corporate bonds for people starting from zero">
            <a:extLst xmlns:a="http://schemas.openxmlformats.org/drawingml/2006/main">
              <a:ext uri="{FF2B5EF4-FFF2-40B4-BE49-F238E27FC236}">
                <a16:creationId xmlns:a16="http://schemas.microsoft.com/office/drawing/2014/main" id="{699C9BAD-0F4C-4D91-848B-EAE2098B7284}"/>
              </a:ext>
            </a:extLst>
          </p:cNvPr>
          <p:cNvSpPr>
            <a:spLocks xmlns:a="http://schemas.openxmlformats.org/drawingml/2006/main" noGrp="1"/>
          </p:cNvSpPr>
          <p:nvPr/>
        </p:nvSpPr>
        <p:spPr>
          <a:xfrm xmlns:a="http://schemas.openxmlformats.org/drawingml/2006/main">
            <a:off x="600075" y="5619750"/>
            <a:ext cx="10001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1634"/>
                </a:solidFill>
                <a:latin typeface="Avenir Next"/>
                <a:ea typeface="Avenir Next"/>
                <a:cs typeface="Avenir Next"/>
              </a:defRPr>
            </a:defPPr>
          </a:lstStyle>
          <a:p xmlns:a="http://schemas.openxmlformats.org/drawingml/2006/main">
            <a:pPr>
              <a:buNone/>
              <a:defRPr sz="2025" b="0">
                <a:solidFill>
                  <a:srgbClr val="241634"/>
                </a:solidFill>
                <a:latin typeface="Avenir Next"/>
                <a:ea typeface="Avenir Next"/>
                <a:cs typeface="Avenir Next"/>
              </a:defRPr>
            </a:pPr>
            <a:r>
              <a:rPr sz="2025" b="0">
                <a:solidFill>
                  <a:srgbClr val="241634"/>
                </a:solidFill>
                <a:latin typeface="Avenir Next"/>
                <a:ea typeface="Avenir Next"/>
                <a:cs typeface="Avenir Next"/>
              </a:rPr>
              <a:t>Corporate bonds for people starting from zero</a:t>
            </a:r>
          </a:p>
        </p:txBody>
      </p:sp>
      <p:sp>
        <p:nvSpPr>
          <p:cNvPr id="6" name="Ivy Pei  /  Product pitch  /  October 2026">
            <a:extLst xmlns:a="http://schemas.openxmlformats.org/drawingml/2006/main">
              <a:ext uri="{FF2B5EF4-FFF2-40B4-BE49-F238E27FC236}">
                <a16:creationId xmlns:a16="http://schemas.microsoft.com/office/drawing/2014/main" id="{6CC60229-1572-4330-9499-98E0D60A7A0E}"/>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Ivy Pei  /  Product pitch  /  October 2026</a:t>
            </a:r>
          </a:p>
        </p:txBody>
      </p:sp>
      <p:sp>
        <p:nvSpPr>
          <p:cNvPr id="7" name="01">
            <a:extLst xmlns:a="http://schemas.openxmlformats.org/drawingml/2006/main">
              <a:ext uri="{FF2B5EF4-FFF2-40B4-BE49-F238E27FC236}">
                <a16:creationId xmlns:a16="http://schemas.microsoft.com/office/drawing/2014/main" id="{D1B83AE7-08C0-4778-8B0C-156C17016603}"/>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01</a:t>
            </a:r>
          </a:p>
        </p:txBody>
      </p:sp>
    </p:spTree>
    <p:extLst>
      <p:ext uri="{BB962C8B-B14F-4D97-AF65-F5344CB8AC3E}">
        <p14:creationId xmlns:p14="http://schemas.microsoft.com/office/powerpoint/2010/main" val="1437242499"/>
      </p:ext>
    </p:extLst>
  </p:cSld>
</p:sld>
</file>

<file path=ppt/slides/slide2.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8" name="The first step is the hard part">
            <a:extLst xmlns:a="http://schemas.openxmlformats.org/drawingml/2006/main">
              <a:ext uri="{FF2B5EF4-FFF2-40B4-BE49-F238E27FC236}">
                <a16:creationId xmlns:a16="http://schemas.microsoft.com/office/drawing/2014/main" id="{B8D893AF-1AA3-4605-8A05-93EDCD96115A}"/>
              </a:ext>
            </a:extLst>
          </p:cNvPr>
          <p:cNvSpPr>
            <a:spLocks xmlns:a="http://schemas.openxmlformats.org/drawingml/2006/main" noGrp="1"/>
          </p:cNvSpPr>
          <p:nvPr/>
        </p:nvSpPr>
        <p:spPr>
          <a:xfrm xmlns:a="http://schemas.openxmlformats.org/drawingml/2006/main">
            <a:off x="552450" y="523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FFFDF5"/>
                </a:solidFill>
                <a:latin typeface="Avenir Next"/>
                <a:ea typeface="Avenir Next"/>
                <a:cs typeface="Avenir Next"/>
              </a:defRPr>
            </a:defPPr>
          </a:lstStyle>
          <a:p xmlns:a="http://schemas.openxmlformats.org/drawingml/2006/main">
            <a:pPr>
              <a:buNone/>
              <a:defRPr sz="3600" b="1">
                <a:solidFill>
                  <a:srgbClr val="FFFDF5"/>
                </a:solidFill>
                <a:latin typeface="Avenir Next"/>
                <a:ea typeface="Avenir Next"/>
                <a:cs typeface="Avenir Next"/>
              </a:defRPr>
            </a:pPr>
            <a:r>
              <a:rPr sz="3600" b="1">
                <a:solidFill>
                  <a:srgbClr val="FFFDF5"/>
                </a:solidFill>
                <a:latin typeface="Avenir Next"/>
                <a:ea typeface="Avenir Next"/>
                <a:cs typeface="Avenir Next"/>
              </a:rPr>
              <a:t>The first step is the hard part</a:t>
            </a:r>
          </a:p>
        </p:txBody>
      </p:sp>
      <p:sp>
        <p:nvSpPr>
          <p:cNvPr id="2" name="“I want to invest&#10;in bonds, but&#10;don’t know&#10;where">
            <a:extLst xmlns:a="http://schemas.openxmlformats.org/drawingml/2006/main">
              <a:ext uri="{FF2B5EF4-FFF2-40B4-BE49-F238E27FC236}">
                <a16:creationId xmlns:a16="http://schemas.microsoft.com/office/drawing/2014/main" id="{8079DB1A-788E-42BC-A0DE-1258B23CD0CB}"/>
              </a:ext>
            </a:extLst>
          </p:cNvPr>
          <p:cNvSpPr>
            <a:spLocks xmlns:a="http://schemas.openxmlformats.org/drawingml/2006/main" noGrp="1"/>
          </p:cNvSpPr>
          <p:nvPr/>
        </p:nvSpPr>
        <p:spPr>
          <a:xfrm xmlns:a="http://schemas.openxmlformats.org/drawingml/2006/main">
            <a:off x="552450" y="1952625"/>
            <a:ext cx="7124700" cy="358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FFFDF5"/>
                </a:solidFill>
                <a:latin typeface="Avenir Next"/>
                <a:ea typeface="Avenir Next"/>
                <a:cs typeface="Avenir Next"/>
              </a:defRPr>
            </a:defPPr>
          </a:lstStyle>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 want to invest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in bonds, but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don’t know</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where to start.”</a:t>
            </a:r>
          </a:p>
        </p:txBody>
      </p:sp>
      <p:sp>
        <p:nvSpPr>
          <p:cNvPr id="3" name="“Finding a bond’s CUSIP&#10;is such a pain.”">
            <a:extLst xmlns:a="http://schemas.openxmlformats.org/drawingml/2006/main">
              <a:ext uri="{FF2B5EF4-FFF2-40B4-BE49-F238E27FC236}">
                <a16:creationId xmlns:a16="http://schemas.microsoft.com/office/drawing/2014/main" id="{A38C8DA8-A20B-4FC2-A20E-4CCD61313057}"/>
              </a:ext>
            </a:extLst>
          </p:cNvPr>
          <p:cNvSpPr>
            <a:spLocks xmlns:a="http://schemas.openxmlformats.org/drawingml/2006/main" noGrp="1"/>
          </p:cNvSpPr>
          <p:nvPr/>
        </p:nvSpPr>
        <p:spPr>
          <a:xfrm xmlns:a="http://schemas.openxmlformats.org/drawingml/2006/main">
            <a:off x="8362950" y="2019300"/>
            <a:ext cx="327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9FF66"/>
                </a:solidFill>
                <a:latin typeface="Avenir Next"/>
                <a:ea typeface="Avenir Next"/>
                <a:cs typeface="Avenir Next"/>
              </a:defRPr>
            </a:defPPr>
          </a:lstStyle>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“Finding a bond’s CUSIP</a:t>
            </a:r>
          </a:p>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is such a pain.”</a:t>
            </a:r>
          </a:p>
        </p:txBody>
      </p:sp>
      <p:sp>
        <p:nvSpPr>
          <p:cNvPr id="4" name="“Fidelity’s bond account&#10;is not for me.”">
            <a:extLst xmlns:a="http://schemas.openxmlformats.org/drawingml/2006/main">
              <a:ext uri="{FF2B5EF4-FFF2-40B4-BE49-F238E27FC236}">
                <a16:creationId xmlns:a16="http://schemas.microsoft.com/office/drawing/2014/main" id="{2BCCB204-5667-4DAE-97B5-CCA24F05D7FF}"/>
              </a:ext>
            </a:extLst>
          </p:cNvPr>
          <p:cNvSpPr>
            <a:spLocks xmlns:a="http://schemas.openxmlformats.org/drawingml/2006/main" noGrp="1"/>
          </p:cNvSpPr>
          <p:nvPr/>
        </p:nvSpPr>
        <p:spPr>
          <a:xfrm xmlns:a="http://schemas.openxmlformats.org/drawingml/2006/main">
            <a:off x="8362950" y="363855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“Fidelity’s bond account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is not for me.”</a:t>
            </a:r>
          </a:p>
        </p:txBody>
      </p:sp>
      <p:sp>
        <p:nvSpPr>
          <p:cNvPr id="5" name="“I only want to invest&#10;a small amount.”">
            <a:extLst xmlns:a="http://schemas.openxmlformats.org/drawingml/2006/main">
              <a:ext uri="{FF2B5EF4-FFF2-40B4-BE49-F238E27FC236}">
                <a16:creationId xmlns:a16="http://schemas.microsoft.com/office/drawing/2014/main" id="{1EDC193A-C411-4C2B-9395-5524D52006DE}"/>
              </a:ext>
            </a:extLst>
          </p:cNvPr>
          <p:cNvSpPr>
            <a:spLocks xmlns:a="http://schemas.openxmlformats.org/drawingml/2006/main" noGrp="1"/>
          </p:cNvSpPr>
          <p:nvPr/>
        </p:nvSpPr>
        <p:spPr>
          <a:xfrm xmlns:a="http://schemas.openxmlformats.org/drawingml/2006/main">
            <a:off x="8362950" y="499110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 only want to invest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a small amount.”</a:t>
            </a:r>
          </a:p>
        </p:txBody>
      </p:sp>
      <p:sp>
        <p:nvSpPr>
          <p:cNvPr id="6" name="Customer discovery comments, edited for clarity">
            <a:extLst xmlns:a="http://schemas.openxmlformats.org/drawingml/2006/main">
              <a:ext uri="{FF2B5EF4-FFF2-40B4-BE49-F238E27FC236}">
                <a16:creationId xmlns:a16="http://schemas.microsoft.com/office/drawing/2014/main" id="{2B663784-913B-40B9-BF4D-FFB34B216A43}"/>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Customer discovery comments, edited for clarity</a:t>
            </a:r>
          </a:p>
        </p:txBody>
      </p:sp>
      <p:sp>
        <p:nvSpPr>
          <p:cNvPr id="7" name="02">
            <a:extLst xmlns:a="http://schemas.openxmlformats.org/drawingml/2006/main">
              <a:ext uri="{FF2B5EF4-FFF2-40B4-BE49-F238E27FC236}">
                <a16:creationId xmlns:a16="http://schemas.microsoft.com/office/drawing/2014/main" id="{B38D4C3D-0AC4-40F5-B4D4-F6C77A5CCE7F}"/>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02</a:t>
            </a:r>
          </a:p>
        </p:txBody>
      </p:sp>
    </p:spTree>
    <p:extLst>
      <p:ext uri="{BB962C8B-B14F-4D97-AF65-F5344CB8AC3E}">
        <p14:creationId xmlns:p14="http://schemas.microsoft.com/office/powerpoint/2010/main" val="730557175"/>
      </p:ext>
    </p:extLst>
  </p:cSld>
</p:sld>
</file>

<file path=ppt/slides/slide3.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sp>
        <p:nvSpPr>
          <p:cNvPr id="11" name="A large market. A personal first step.">
            <a:extLst xmlns:a="http://schemas.openxmlformats.org/drawingml/2006/main">
              <a:ext uri="{FF2B5EF4-FFF2-40B4-BE49-F238E27FC236}">
                <a16:creationId xmlns:a16="http://schemas.microsoft.com/office/drawing/2014/main" id="{56E6F011-7278-4A0D-9025-E0BB2CF3BBD0}"/>
              </a:ext>
            </a:extLst>
          </p:cNvPr>
          <p:cNvSpPr>
            <a:spLocks xmlns:a="http://schemas.openxmlformats.org/drawingml/2006/main" noGrp="1"/>
          </p:cNvSpPr>
          <p:nvPr/>
        </p:nvSpPr>
        <p:spPr>
          <a:xfrm xmlns:a="http://schemas.openxmlformats.org/drawingml/2006/main">
            <a:off x="552450" y="5143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FFFFFF"/>
                </a:solidFill>
                <a:latin typeface="Avenir Next"/>
                <a:ea typeface="Avenir Next"/>
                <a:cs typeface="Avenir Next"/>
              </a:defRPr>
            </a:defPPr>
          </a:lstStyle>
          <a:p xmlns:a="http://schemas.openxmlformats.org/drawingml/2006/main">
            <a:pPr>
              <a:buNone/>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A large market. A personal first step.</a:t>
            </a:r>
          </a:p>
        </p:txBody>
      </p:sp>
      <p:sp>
        <p:nvSpPr>
          <p:cNvPr id="2" name="$12.1T">
            <a:extLst xmlns:a="http://schemas.openxmlformats.org/drawingml/2006/main">
              <a:ext uri="{FF2B5EF4-FFF2-40B4-BE49-F238E27FC236}">
                <a16:creationId xmlns:a16="http://schemas.microsoft.com/office/drawing/2014/main" id="{C2CA3A74-6948-4998-9E9C-82036780471D}"/>
              </a:ext>
            </a:extLst>
          </p:cNvPr>
          <p:cNvSpPr>
            <a:spLocks xmlns:a="http://schemas.openxmlformats.org/drawingml/2006/main" noGrp="1"/>
          </p:cNvSpPr>
          <p:nvPr/>
        </p:nvSpPr>
        <p:spPr>
          <a:xfrm xmlns:a="http://schemas.openxmlformats.org/drawingml/2006/main">
            <a:off x="495300" y="1695450"/>
            <a:ext cx="77533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700" b="1">
                <a:solidFill>
                  <a:srgbClr val="FFFFFF"/>
                </a:solidFill>
                <a:latin typeface="Avenir Next"/>
                <a:ea typeface="Avenir Next"/>
                <a:cs typeface="Avenir Next"/>
              </a:defRPr>
            </a:defPPr>
          </a:lstStyle>
          <a:p xmlns:a="http://schemas.openxmlformats.org/drawingml/2006/main">
            <a:pPr>
              <a:buNone/>
              <a:defRPr sz="11700" b="1">
                <a:solidFill>
                  <a:srgbClr val="FFFFFF"/>
                </a:solidFill>
                <a:latin typeface="Avenir Next"/>
                <a:ea typeface="Avenir Next"/>
                <a:cs typeface="Avenir Next"/>
              </a:defRPr>
            </a:pPr>
            <a:r>
              <a:rPr sz="11700" b="1">
                <a:solidFill>
                  <a:srgbClr val="FFFFFF"/>
                </a:solidFill>
                <a:latin typeface="Avenir Next"/>
                <a:ea typeface="Avenir Next"/>
                <a:cs typeface="Avenir Next"/>
              </a:rPr>
              <a:t>$12.1T</a:t>
            </a:r>
          </a:p>
        </p:txBody>
      </p:sp>
      <p:sp>
        <p:nvSpPr>
          <p:cNvPr id="3" name="U.S. corporate bonds outstanding">
            <a:extLst xmlns:a="http://schemas.openxmlformats.org/drawingml/2006/main">
              <a:ext uri="{FF2B5EF4-FFF2-40B4-BE49-F238E27FC236}">
                <a16:creationId xmlns:a16="http://schemas.microsoft.com/office/drawing/2014/main" id="{332AACA5-871B-4D7E-8AC3-4BC0FCBB6142}"/>
              </a:ext>
            </a:extLst>
          </p:cNvPr>
          <p:cNvSpPr>
            <a:spLocks xmlns:a="http://schemas.openxmlformats.org/drawingml/2006/main" noGrp="1"/>
          </p:cNvSpPr>
          <p:nvPr/>
        </p:nvSpPr>
        <p:spPr>
          <a:xfrm xmlns:a="http://schemas.openxmlformats.org/drawingml/2006/main">
            <a:off x="619125" y="36004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FFFFFF"/>
                </a:solidFill>
                <a:latin typeface="Avenir Next"/>
                <a:ea typeface="Avenir Next"/>
                <a:cs typeface="Avenir Next"/>
              </a:defRPr>
            </a:defPPr>
          </a:lstStyle>
          <a:p xmlns:a="http://schemas.openxmlformats.org/drawingml/2006/main">
            <a:pPr>
              <a:buNone/>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U.S. corporate bonds outstanding</a:t>
            </a:r>
          </a:p>
        </p:txBody>
      </p:sp>
      <p:sp>
        <p:nvSpPr>
          <p:cNvPr id="4" name="Q2 2026">
            <a:extLst xmlns:a="http://schemas.openxmlformats.org/drawingml/2006/main">
              <a:ext uri="{FF2B5EF4-FFF2-40B4-BE49-F238E27FC236}">
                <a16:creationId xmlns:a16="http://schemas.microsoft.com/office/drawing/2014/main" id="{A51F9C11-DE06-491B-B962-0732BF923B31}"/>
              </a:ext>
            </a:extLst>
          </p:cNvPr>
          <p:cNvSpPr>
            <a:spLocks xmlns:a="http://schemas.openxmlformats.org/drawingml/2006/main" noGrp="1"/>
          </p:cNvSpPr>
          <p:nvPr/>
        </p:nvSpPr>
        <p:spPr>
          <a:xfrm xmlns:a="http://schemas.openxmlformats.org/drawingml/2006/main">
            <a:off x="619125" y="4105275"/>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DD0FF"/>
                </a:solidFill>
                <a:latin typeface="Avenir Next"/>
                <a:ea typeface="Avenir Next"/>
                <a:cs typeface="Avenir Next"/>
              </a:defRPr>
            </a:defPPr>
          </a:lstStyle>
          <a:p xmlns:a="http://schemas.openxmlformats.org/drawingml/2006/main">
            <a:pPr>
              <a:buNone/>
              <a:defRPr sz="1650" b="0">
                <a:solidFill>
                  <a:srgbClr val="DDD0FF"/>
                </a:solidFill>
                <a:latin typeface="Avenir Next"/>
                <a:ea typeface="Avenir Next"/>
                <a:cs typeface="Avenir Next"/>
              </a:defRPr>
            </a:pPr>
            <a:r>
              <a:rPr sz="1650" b="0">
                <a:solidFill>
                  <a:srgbClr val="DDD0FF"/>
                </a:solidFill>
                <a:latin typeface="Avenir Next"/>
                <a:ea typeface="Avenir Next"/>
                <a:cs typeface="Avenir Next"/>
              </a:rPr>
              <a:t>Q2 2026</a:t>
            </a:r>
          </a:p>
        </p:txBody>
      </p:sp>
      <p:sp>
        <p:nvSpPr>
          <p:cNvPr id="5" name="$66.7B">
            <a:extLst xmlns:a="http://schemas.openxmlformats.org/drawingml/2006/main">
              <a:ext uri="{FF2B5EF4-FFF2-40B4-BE49-F238E27FC236}">
                <a16:creationId xmlns:a16="http://schemas.microsoft.com/office/drawing/2014/main" id="{51C3F2D1-76D8-46A4-893E-F77223B05B17}"/>
              </a:ext>
            </a:extLst>
          </p:cNvPr>
          <p:cNvSpPr>
            <a:spLocks xmlns:a="http://schemas.openxmlformats.org/drawingml/2006/main" noGrp="1"/>
          </p:cNvSpPr>
          <p:nvPr/>
        </p:nvSpPr>
        <p:spPr>
          <a:xfrm xmlns:a="http://schemas.openxmlformats.org/drawingml/2006/main">
            <a:off x="628650" y="4914900"/>
            <a:ext cx="3648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75" b="1">
                <a:solidFill>
                  <a:srgbClr val="D9FF66"/>
                </a:solidFill>
                <a:latin typeface="Avenir Next"/>
                <a:ea typeface="Avenir Next"/>
                <a:cs typeface="Avenir Next"/>
              </a:defRPr>
            </a:defPPr>
          </a:lstStyle>
          <a:p xmlns:a="http://schemas.openxmlformats.org/drawingml/2006/main">
            <a:pPr>
              <a:buNone/>
              <a:defRPr sz="4275" b="1">
                <a:solidFill>
                  <a:srgbClr val="D9FF66"/>
                </a:solidFill>
                <a:latin typeface="Avenir Next"/>
                <a:ea typeface="Avenir Next"/>
                <a:cs typeface="Avenir Next"/>
              </a:defRPr>
            </a:pPr>
            <a:r>
              <a:rPr sz="4275" b="1">
                <a:solidFill>
                  <a:srgbClr val="D9FF66"/>
                </a:solidFill>
                <a:latin typeface="Avenir Next"/>
                <a:ea typeface="Avenir Next"/>
                <a:cs typeface="Avenir Next"/>
              </a:rPr>
              <a:t>$66.7B</a:t>
            </a:r>
          </a:p>
        </p:txBody>
      </p:sp>
      <p:sp>
        <p:nvSpPr>
          <p:cNvPr id="6" name="Average daily trading&#10;Jan–Sep 2026">
            <a:extLst xmlns:a="http://schemas.openxmlformats.org/drawingml/2006/main">
              <a:ext uri="{FF2B5EF4-FFF2-40B4-BE49-F238E27FC236}">
                <a16:creationId xmlns:a16="http://schemas.microsoft.com/office/drawing/2014/main" id="{7BE0CC74-E561-429A-80F5-C7E90E794FA0}"/>
              </a:ext>
            </a:extLst>
          </p:cNvPr>
          <p:cNvSpPr>
            <a:spLocks xmlns:a="http://schemas.openxmlformats.org/drawingml/2006/main" noGrp="1"/>
          </p:cNvSpPr>
          <p:nvPr/>
        </p:nvSpPr>
        <p:spPr>
          <a:xfrm xmlns:a="http://schemas.openxmlformats.org/drawingml/2006/main">
            <a:off x="4238625" y="5010150"/>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FFFFF"/>
                </a:solidFill>
                <a:latin typeface="Avenir Next"/>
                <a:ea typeface="Avenir Next"/>
                <a:cs typeface="Avenir Next"/>
              </a:defRPr>
            </a:defPPr>
          </a:lstStyle>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Average daily trading</a:t>
            </a:r>
          </a:p>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Jan–Sep 2026</a:t>
            </a:r>
          </a:p>
        </p:txBody>
      </p:sp>
      <p:sp>
        <p:nvSpPr>
          <p:cNvPr id="7" name="Our first&#10;customer">
            <a:extLst xmlns:a="http://schemas.openxmlformats.org/drawingml/2006/main">
              <a:ext uri="{FF2B5EF4-FFF2-40B4-BE49-F238E27FC236}">
                <a16:creationId xmlns:a16="http://schemas.microsoft.com/office/drawing/2014/main" id="{11BC352E-9F22-4583-81F6-7E4287CFFDBF}"/>
              </a:ext>
            </a:extLst>
          </p:cNvPr>
          <p:cNvSpPr>
            <a:spLocks xmlns:a="http://schemas.openxmlformats.org/drawingml/2006/main" noGrp="1"/>
          </p:cNvSpPr>
          <p:nvPr/>
        </p:nvSpPr>
        <p:spPr>
          <a:xfrm xmlns:a="http://schemas.openxmlformats.org/drawingml/2006/main">
            <a:off x="8562975" y="2114550"/>
            <a:ext cx="304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D9FF66"/>
                </a:solidFill>
                <a:latin typeface="Avenir Next"/>
                <a:ea typeface="Avenir Next"/>
                <a:cs typeface="Avenir Next"/>
              </a:defRPr>
            </a:defPPr>
          </a:lstStyle>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Our first</a:t>
            </a:r>
          </a:p>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customer</a:t>
            </a:r>
          </a:p>
        </p:txBody>
      </p:sp>
      <p:sp>
        <p:nvSpPr>
          <p:cNvPr id="8" name="U.S. adults new to&#10;individual bonds,&#10;including o">
            <a:extLst xmlns:a="http://schemas.openxmlformats.org/drawingml/2006/main">
              <a:ext uri="{FF2B5EF4-FFF2-40B4-BE49-F238E27FC236}">
                <a16:creationId xmlns:a16="http://schemas.microsoft.com/office/drawing/2014/main" id="{97099019-DAB1-4FDD-AD81-D8D8CCCF7720}"/>
              </a:ext>
            </a:extLst>
          </p:cNvPr>
          <p:cNvSpPr>
            <a:spLocks xmlns:a="http://schemas.openxmlformats.org/drawingml/2006/main" noGrp="1"/>
          </p:cNvSpPr>
          <p:nvPr/>
        </p:nvSpPr>
        <p:spPr>
          <a:xfrm xmlns:a="http://schemas.openxmlformats.org/drawingml/2006/main">
            <a:off x="8562975" y="3867150"/>
            <a:ext cx="30670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Avenir Next"/>
                <a:ea typeface="Avenir Next"/>
                <a:cs typeface="Avenir Next"/>
              </a:defRPr>
            </a:defPPr>
          </a:lstStyle>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U.S. adults new to</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individual bonds,</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including older adults</a:t>
            </a:r>
          </a:p>
        </p:txBody>
      </p:sp>
      <p:sp>
        <p:nvSpPr>
          <p:cNvPr id="9" name="SIFMA, Oct 5, 2026. Asset market size does not r">
            <a:extLst xmlns:a="http://schemas.openxmlformats.org/drawingml/2006/main">
              <a:ext uri="{FF2B5EF4-FFF2-40B4-BE49-F238E27FC236}">
                <a16:creationId xmlns:a16="http://schemas.microsoft.com/office/drawing/2014/main" id="{821D38AC-462A-494D-8309-A9E973B0E30A}"/>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SIFMA, Oct 5, 2026. Asset market size does not represent addressable platform revenue.</a:t>
            </a:r>
          </a:p>
        </p:txBody>
      </p:sp>
      <p:sp>
        <p:nvSpPr>
          <p:cNvPr id="10" name="03">
            <a:extLst xmlns:a="http://schemas.openxmlformats.org/drawingml/2006/main">
              <a:ext uri="{FF2B5EF4-FFF2-40B4-BE49-F238E27FC236}">
                <a16:creationId xmlns:a16="http://schemas.microsoft.com/office/drawing/2014/main" id="{49BCEF6D-BB04-457E-9C5C-1FD4A2F3A26E}"/>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03</a:t>
            </a:r>
          </a:p>
        </p:txBody>
      </p:sp>
    </p:spTree>
    <p:extLst>
      <p:ext uri="{BB962C8B-B14F-4D97-AF65-F5344CB8AC3E}">
        <p14:creationId xmlns:p14="http://schemas.microsoft.com/office/powerpoint/2010/main" val="1664908857"/>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DF5"/>
        </a:solidFill>
      </p:bgPr>
    </p:bg>
    <p:spTree>
      <p:nvGrpSpPr>
        <p:cNvPr id="1" name=""/>
        <p:cNvGrpSpPr/>
        <p:nvPr/>
      </p:nvGrpSpPr>
      <p:grpSpPr>
        <a:xfrm/>
      </p:grpSpPr>
      <p:sp>
        <p:nvSpPr>
          <p:cNvPr id="6" name="Our place in a busy market">
            <a:extLst>
              <a:ext uri="{FF2B5EF4-FFF2-40B4-BE49-F238E27FC236}">
                <ns2:creationId id="{028C32F6-7A82-4B39-9A69-D8131CDFA799}"/>
              </a:ext>
            </a:extLst>
          </p:cNvPr>
          <p:cNvSpPr>
            <a:spLocks noGrp="1"/>
          </p:cNvSpPr>
          <p:nvPr/>
        </p:nvSpPr>
        <p:spPr>
          <a:xfrm>
            <a:off x="552450" y="542925"/>
            <a:ext cx="10858500" cy="866775"/>
          </a:xfrm>
          <a:prstGeom prst="rect">
            <a:avLst/>
          </a:prstGeom>
          <a:noFill/>
          <a:ln w="0">
            <a:noFill/>
          </a:ln>
        </p:spPr>
        <p:txBody>
          <a:bodyPr lIns="0" tIns="0" rIns="0" bIns="0" anchor="t">
            <a:noAutofit/>
          </a:bodyPr>
          <a:lstStyle>
            <a:defPPr>
              <a:defRPr sz="4125" b="1">
                <a:solidFill>
                  <a:srgbClr val="241634"/>
                </a:solidFill>
                <a:latin typeface="Avenir Next"/>
                <a:ea typeface="Avenir Next"/>
                <a:cs typeface="Avenir Next"/>
              </a:defRPr>
            </a:defPPr>
          </a:lstStyle>
          <a:p>
            <a:pPr>
              <a:buNone/>
              <a:defRPr sz="4125" b="1">
                <a:solidFill>
                  <a:srgbClr val="241634"/>
                </a:solidFill>
                <a:latin typeface="Avenir Next"/>
                <a:ea typeface="Avenir Next"/>
                <a:cs typeface="Avenir Next"/>
              </a:defRPr>
            </a:pPr>
            <a:r>
              <a:rPr sz="4125" b="1">
                <a:solidFill>
                  <a:srgbClr val="241634"/>
                </a:solidFill>
                <a:latin typeface="Avenir Next"/>
                <a:ea typeface="Avenir Next"/>
                <a:cs typeface="Avenir Next"/>
              </a:rPr>
              <a:t>Our place in a busy market</a:t>
            </a:r>
          </a:p>
        </p:txBody>
      </p:sp>
      <p:sp>
        <p:nvSpPr>
          <p:cNvPr id="2" name="Fewer choices. More explanation before a decisio">
            <a:extLst>
              <a:ext uri="{FF2B5EF4-FFF2-40B4-BE49-F238E27FC236}">
                <ns2:creationId id="{419690A8-B202-4207-B621-E28E6DE2C86B}"/>
              </a:ext>
            </a:extLst>
          </p:cNvPr>
          <p:cNvSpPr>
            <a:spLocks noGrp="1"/>
          </p:cNvSpPr>
          <p:nvPr/>
        </p:nvSpPr>
        <p:spPr>
          <a:xfrm>
            <a:off x="571500" y="1457325"/>
            <a:ext cx="10668000" cy="466725"/>
          </a:xfrm>
          <a:prstGeom prst="rect">
            <a:avLst/>
          </a:prstGeom>
          <a:noFill/>
          <a:ln w="0">
            <a:noFill/>
          </a:ln>
        </p:spPr>
        <p:txBody>
          <a:bodyPr lIns="0" tIns="0" rIns="0" bIns="0" anchor="t">
            <a:noAutofit/>
          </a:bodyPr>
          <a:lstStyle>
            <a:defPPr>
              <a:defRPr sz="2175" b="0">
                <a:solidFill>
                  <a:srgbClr val="7445FF"/>
                </a:solidFill>
                <a:latin typeface="Avenir Next"/>
                <a:ea typeface="Avenir Next"/>
                <a:cs typeface="Avenir Next"/>
              </a:defRPr>
            </a:defPPr>
          </a:lstStyle>
          <a:p>
            <a:pPr>
              <a:buNone/>
              <a:defRPr sz="2175" b="0">
                <a:solidFill>
                  <a:srgbClr val="7445FF"/>
                </a:solidFill>
                <a:latin typeface="Avenir Next"/>
                <a:ea typeface="Avenir Next"/>
                <a:cs typeface="Avenir Next"/>
              </a:defRPr>
            </a:pPr>
            <a:r>
              <a:rPr sz="2175" b="0">
                <a:solidFill>
                  <a:srgbClr val="7445FF"/>
                </a:solidFill>
                <a:latin typeface="Avenir Next"/>
                <a:ea typeface="Avenir Next"/>
                <a:cs typeface="Avenir Next"/>
              </a:rPr>
              <a:t>Fewer choices. More explanation before a decision.</a:t>
            </a:r>
          </a:p>
        </p:txBody>
      </p:sp>
      <p:graphicFrame>
        <p:nvGraphicFramePr>
          <p:cNvPr id="3" name="">
            <a:extLst>
              <a:ext uri="{FF2B5EF4-FFF2-40B4-BE49-F238E27FC236}">
                <ns2:creationId id="{7A787195-5974-4A12-9BC5-73343F5D4A84}"/>
              </a:ext>
            </a:extLst>
          </p:cNvPr>
          <p:cNvGraphicFramePr/>
          <p:nvPr/>
        </p:nvGraphicFramePr>
        <p:xfrm>
          <a:off x="552450" y="2324100"/>
          <a:ext cx="11087100" cy="3381375"/>
        </p:xfrm>
        <a:graphic>
          <a:graphicData uri="http://schemas.openxmlformats.org/drawingml/2006/table">
            <a:tbl>
              <a:tblPr/>
              <a:tblGrid>
                <a:gridCol w="2238375"/>
                <a:gridCol w="5276850"/>
                <a:gridCol w="3571875"/>
              </a:tblGrid>
              <a:tr h="621506">
                <a:tc>
                  <a:txBody>
                    <a:bodyPr/>
                    <a:lstStyle/>
                    <a:p>
                      <a:r>
                        <a:rPr sz="1350" b="1">
                          <a:solidFill>
                            <a:srgbClr val="786E82"/>
                          </a:solidFill>
                          <a:latin typeface="Avenir Next"/>
                          <a:ea typeface="Avenir Next"/>
                          <a:cs typeface="Avenir Next"/>
                        </a:rPr>
                        <a:t>PRODUCT</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HOW IT WORKS</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STARTING AMOUNT</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Fidelity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Filtered inventory, investor chooses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Varies by offering</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Robinhood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Bond ETFs, no individual bonds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$1 on eligible ETF shares</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Webull managed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Portfolio selects bonds for a strategy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$2,000 corporate strategy</a:t>
                      </a:r>
                    </a:p>
                  </a:txBody>
                  <a:tcPr marL="123825" marR="123825" marT="133350" marB="76200" anchor="ctr">
                    <a:solidFill>
                      <a:srgbClr val="FFFDF5"/>
                    </a:solidFill>
                  </a:tcPr>
                </a:tc>
              </a:tr>
              <a:tr h="895350">
                <a:tc>
                  <a:txBody>
                    <a:bodyPr/>
                    <a:lstStyle/>
                    <a:p>
                      <a:r>
                        <a:rPr sz="1725" b="1">
                          <a:solidFill>
                            <a:srgbClr val="241634"/>
                          </a:solidFill>
                          <a:latin typeface="Avenir Next"/>
                          <a:ea typeface="Avenir Next"/>
                          <a:cs typeface="Avenir Next"/>
                        </a:rPr>
                        <a:t>InCreditble</a:t>
                      </a:r>
                    </a:p>
                    <a:p>
                      <a:r>
                        <a:rPr sz="1725" b="1">
                          <a:solidFill>
                            <a:srgbClr val="241634"/>
                          </a:solidFill>
                          <a:latin typeface="Avenir Next"/>
                          <a:ea typeface="Avenir Next"/>
                          <a:cs typeface="Avenir Next"/>
                        </a:rPr>
                        <a:t>prototype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Up to 3 explained matches</a:t>
                      </a:r>
                    </a:p>
                    <a:p>
                      <a:r>
                        <a:rPr sz="1725" b="1">
                          <a:solidFill>
                            <a:srgbClr val="241634"/>
                          </a:solidFill>
                          <a:latin typeface="Avenir Next"/>
                          <a:ea typeface="Avenir Next"/>
                          <a:cs typeface="Avenir Next"/>
                        </a:rPr>
                        <a:t>User approves each trade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$10 simulated order</a:t>
                      </a:r>
                    </a:p>
                  </a:txBody>
                  <a:tcPr marL="123825" marR="123825" marT="133350" marB="76200" anchor="ctr">
                    <a:solidFill>
                      <a:srgbClr val="D9FF66"/>
                    </a:solidFill>
                  </a:tcPr>
                </a:tc>
              </a:tr>
            </a:tbl>
          </a:graphicData>
        </a:graphic>
      </p:graphicFrame>
      <p:sp>
        <p:nvSpPr>
          <p:cNvPr id="4" name="Official product pages, Oct 10, 2026. InCreditbl">
            <a:extLst>
              <a:ext uri="{FF2B5EF4-FFF2-40B4-BE49-F238E27FC236}">
                <ns2:creationId id="{37EFBA57-9F8D-453E-B85F-0430E5958B7F}"/>
              </a:ext>
            </a:extLst>
          </p:cNvPr>
          <p:cNvSpPr>
            <a:spLocks noGrp="1"/>
          </p:cNvSpPr>
          <p:nvPr/>
        </p:nvSpPr>
        <p:spPr>
          <a:xfrm>
            <a:off x="552450" y="6400800"/>
            <a:ext cx="10477500" cy="247650"/>
          </a:xfrm>
          <a:prstGeom prst="rect">
            <a:avLst/>
          </a:prstGeom>
          <a:noFill/>
          <a:ln w="0">
            <a:noFill/>
          </a:ln>
        </p:spPr>
        <p:txBody>
          <a:bodyPr lIns="0" tIns="0" rIns="0" bIns="0" anchor="t">
            <a:noAutofit/>
          </a:bodyPr>
          <a:lstStyle>
            <a:defPPr>
              <a:defRPr sz="1200" b="0">
                <a:solidFill>
                  <a:srgbClr val="786E82"/>
                </a:solidFill>
                <a:latin typeface="Avenir Next"/>
                <a:ea typeface="Avenir Next"/>
                <a:cs typeface="Avenir Next"/>
              </a:defRPr>
            </a:defPPr>
          </a:lstStyle>
          <a:p>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Official product pages, Oct 10, 2026. InCreditble is a prototype. Sources in speaker notes.</a:t>
            </a:r>
          </a:p>
        </p:txBody>
      </p:sp>
      <p:sp>
        <p:nvSpPr>
          <p:cNvPr id="5" name="04">
            <a:extLst>
              <a:ext uri="{FF2B5EF4-FFF2-40B4-BE49-F238E27FC236}">
                <ns2:creationId id="{1ED1A190-8714-4F07-ACEF-DA7A2F1077F7}"/>
              </a:ext>
            </a:extLst>
          </p:cNvPr>
          <p:cNvSpPr>
            <a:spLocks noGrp="1"/>
          </p:cNvSpPr>
          <p:nvPr/>
        </p:nvSpPr>
        <p:spPr>
          <a:xfrm>
            <a:off x="11239500" y="6381750"/>
            <a:ext cx="419100" cy="266700"/>
          </a:xfrm>
          <a:prstGeom prst="rect">
            <a:avLst/>
          </a:prstGeom>
          <a:noFill/>
          <a:ln w="0">
            <a:noFill/>
          </a:ln>
        </p:spPr>
        <p:txBody>
          <a:bodyPr lIns="0" tIns="0" rIns="0" bIns="0" anchor="t">
            <a:noAutofit/>
          </a:bodyPr>
          <a:lstStyle>
            <a:defPPr>
              <a:defRPr sz="1275" b="0">
                <a:solidFill>
                  <a:srgbClr val="786E82"/>
                </a:solidFill>
                <a:latin typeface="Avenir Next"/>
                <a:ea typeface="Avenir Next"/>
                <a:cs typeface="Avenir Next"/>
              </a:defRPr>
            </a:defPPr>
          </a:lstStyle>
          <a:p>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04</a:t>
            </a:r>
          </a:p>
        </p:txBody>
      </p:sp>
    </p:spTree>
    <p:extLst>
      <p:ext uri="{BB962C8B-B14F-4D97-AF65-F5344CB8AC3E}">
        <ns3:creationId val="441810597"/>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90E23D7-017A-4206-986D-B62D2596BA76}"/>
              </a:ext>
            </a:extLst>
          </p:cNvPr>
          <p:cNvPicPr>
            <a:picLocks xmlns:a="http://schemas.openxmlformats.org/drawingml/2006/main" noChangeAspect="1"/>
          </p:cNvPicPr>
          <p:nvPr/>
        </p:nvPicPr>
        <p:blipFill>
          <a:blip xmlns:r="http://schemas.openxmlformats.org/officeDocument/2006/relationships" xmlns:a="http://schemas.openxmlformats.org/drawingml/2006/main" r:embed="Rc6d8819197734d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1588220"/>
      </p:ext>
    </p:extLst>
  </p:cSld>
</p:sld>
</file>

<file path=ppt/slides/slide6.xml><?xml version="1.0" encoding="utf-8"?>
<p:sld xmlns:p="http://schemas.openxmlformats.org/presentationml/2006/main">
  <p:cSld>
    <p:bg>
      <p:bgPr>
        <a:solidFill xmlns:a="http://schemas.openxmlformats.org/drawingml/2006/main">
          <a:srgbClr val="F2ECFF"/>
        </a:solidFill>
      </p:bgPr>
    </p:bg>
    <p:spTree>
      <p:nvGrpSpPr>
        <p:cNvPr id="1" name=""/>
        <p:cNvGrpSpPr/>
        <p:nvPr/>
      </p:nvGrpSpPr>
      <p:grpSpPr>
        <a:xfrm xmlns:a="http://schemas.openxmlformats.org/drawingml/2006/main"/>
      </p:grpSpPr>
      <p:sp>
        <p:nvSpPr>
          <p:cNvPr id="9" name="Three choices.&#10;Room to&#10;understand.">
            <a:extLst xmlns:a="http://schemas.openxmlformats.org/drawingml/2006/main">
              <a:ext uri="{FF2B5EF4-FFF2-40B4-BE49-F238E27FC236}">
                <a16:creationId xmlns:a16="http://schemas.microsoft.com/office/drawing/2014/main" id="{A6CF8EF4-1369-4D5B-90D6-F53E2DE9343E}"/>
              </a:ext>
            </a:extLst>
          </p:cNvPr>
          <p:cNvSpPr>
            <a:spLocks xmlns:a="http://schemas.openxmlformats.org/drawingml/2006/main" noGrp="1"/>
          </p:cNvSpPr>
          <p:nvPr/>
        </p:nvSpPr>
        <p:spPr>
          <a:xfrm xmlns:a="http://schemas.openxmlformats.org/drawingml/2006/main">
            <a:off x="552450" y="1304925"/>
            <a:ext cx="49530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241634"/>
                </a:solidFill>
                <a:latin typeface="Avenir Next"/>
                <a:ea typeface="Avenir Next"/>
                <a:cs typeface="Avenir Next"/>
              </a:defRPr>
            </a:defPPr>
          </a:lstStyle>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Three choices.</a:t>
            </a:r>
          </a:p>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Room to</a:t>
            </a:r>
          </a:p>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understand.</a:t>
            </a:r>
          </a:p>
        </p:txBody>
      </p:sp>
      <p:sp>
        <p:nvSpPr>
          <p:cNvPr id="2" name="Your goals first.">
            <a:extLst xmlns:a="http://schemas.openxmlformats.org/drawingml/2006/main">
              <a:ext uri="{FF2B5EF4-FFF2-40B4-BE49-F238E27FC236}">
                <a16:creationId xmlns:a16="http://schemas.microsoft.com/office/drawing/2014/main" id="{304537A9-F019-4176-85D8-5F77DBC3D52B}"/>
              </a:ext>
            </a:extLst>
          </p:cNvPr>
          <p:cNvSpPr>
            <a:spLocks xmlns:a="http://schemas.openxmlformats.org/drawingml/2006/main" noGrp="1"/>
          </p:cNvSpPr>
          <p:nvPr/>
        </p:nvSpPr>
        <p:spPr>
          <a:xfrm xmlns:a="http://schemas.openxmlformats.org/drawingml/2006/main">
            <a:off x="590550" y="45720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7445FF"/>
                </a:solidFill>
                <a:latin typeface="Avenir Next"/>
                <a:ea typeface="Avenir Next"/>
                <a:cs typeface="Avenir Next"/>
              </a:defRPr>
            </a:defPPr>
          </a:lstStyle>
          <a:p xmlns:a="http://schemas.openxmlformats.org/drawingml/2006/main">
            <a:pPr>
              <a:buNone/>
              <a:defRPr sz="2400" b="1">
                <a:solidFill>
                  <a:srgbClr val="7445FF"/>
                </a:solidFill>
                <a:latin typeface="Avenir Next"/>
                <a:ea typeface="Avenir Next"/>
                <a:cs typeface="Avenir Next"/>
              </a:defRPr>
            </a:pPr>
            <a:r>
              <a:rPr sz="2400" b="1">
                <a:solidFill>
                  <a:srgbClr val="7445FF"/>
                </a:solidFill>
                <a:latin typeface="Avenir Next"/>
                <a:ea typeface="Avenir Next"/>
                <a:cs typeface="Avenir Next"/>
              </a:rPr>
              <a:t>Your goals first.</a:t>
            </a:r>
          </a:p>
        </p:txBody>
      </p:sp>
      <p:sp>
        <p:nvSpPr>
          <p:cNvPr id="3" name="Experience, yield, timeframe,&#10;industry and budge">
            <a:extLst xmlns:a="http://schemas.openxmlformats.org/drawingml/2006/main">
              <a:ext uri="{FF2B5EF4-FFF2-40B4-BE49-F238E27FC236}">
                <a16:creationId xmlns:a16="http://schemas.microsoft.com/office/drawing/2014/main" id="{98BCB831-985D-4FF0-8BF7-264EF6FA6C57}"/>
              </a:ext>
            </a:extLst>
          </p:cNvPr>
          <p:cNvSpPr>
            <a:spLocks xmlns:a="http://schemas.openxmlformats.org/drawingml/2006/main" noGrp="1"/>
          </p:cNvSpPr>
          <p:nvPr/>
        </p:nvSpPr>
        <p:spPr>
          <a:xfrm xmlns:a="http://schemas.openxmlformats.org/drawingml/2006/main">
            <a:off x="590550" y="515302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786E82"/>
                </a:solidFill>
                <a:latin typeface="Avenir Next"/>
                <a:ea typeface="Avenir Next"/>
                <a:cs typeface="Avenir Next"/>
              </a:defRPr>
            </a:defPPr>
          </a:lstStyle>
          <a:p xmlns:a="http://schemas.openxmlformats.org/drawingml/2006/main">
            <a:pPr>
              <a:buNone/>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Experience, yield, timeframe,</a:t>
            </a:r>
          </a:p>
          <a:p xmlns:a="http://schemas.openxmlformats.org/drawingml/2006/main">
            <a:pPr>
              <a:buNone/>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industry and budget</a:t>
            </a:r>
          </a:p>
        </p:txBody>
      </p:sp>
      <p:pic>
        <p:nvPicPr>
          <p:cNvPr id="4" name="">
            <a:extLst xmlns:a="http://schemas.openxmlformats.org/drawingml/2006/main">
              <a:ext uri="{FF2B5EF4-FFF2-40B4-BE49-F238E27FC236}">
                <a16:creationId xmlns:a16="http://schemas.microsoft.com/office/drawing/2014/main" id="{41847182-A436-4C32-A422-65C673E25DEC}"/>
              </a:ext>
            </a:extLst>
          </p:cNvPr>
          <p:cNvPicPr>
            <a:picLocks xmlns:a="http://schemas.openxmlformats.org/drawingml/2006/main" noChangeAspect="1"/>
          </p:cNvPicPr>
          <p:nvPr/>
        </p:nvPicPr>
        <p:blipFill>
          <a:blip xmlns:r="http://schemas.openxmlformats.org/officeDocument/2006/relationships" xmlns:a="http://schemas.openxmlformats.org/drawingml/2006/main" r:embed="Rb43b8008b05a4e28"/>
          <a:stretch xmlns:a="http://schemas.openxmlformats.org/drawingml/2006/main"/>
        </p:blipFill>
        <p:spPr>
          <a:xfrm xmlns:a="http://schemas.openxmlformats.org/drawingml/2006/main">
            <a:off x="5743575" y="1557570"/>
            <a:ext cx="5895975" cy="2723684"/>
          </a:xfrm>
          <a:prstGeom xmlns:a="http://schemas.openxmlformats.org/drawingml/2006/main" prst="rect">
            <a:avLst/>
          </a:prstGeom>
        </p:spPr>
      </p:pic>
      <p:sp>
        <p:nvSpPr>
          <p:cNvPr id="5" name="Optional help, in plain English">
            <a:extLst xmlns:a="http://schemas.openxmlformats.org/drawingml/2006/main">
              <a:ext uri="{FF2B5EF4-FFF2-40B4-BE49-F238E27FC236}">
                <a16:creationId xmlns:a16="http://schemas.microsoft.com/office/drawing/2014/main" id="{27B32F7D-03EC-41D0-9BD9-A76B797C2963}"/>
              </a:ext>
            </a:extLst>
          </p:cNvPr>
          <p:cNvSpPr>
            <a:spLocks xmlns:a="http://schemas.openxmlformats.org/drawingml/2006/main" noGrp="1"/>
          </p:cNvSpPr>
          <p:nvPr/>
        </p:nvSpPr>
        <p:spPr>
          <a:xfrm xmlns:a="http://schemas.openxmlformats.org/drawingml/2006/main">
            <a:off x="5772150" y="504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7445FF"/>
                </a:solidFill>
                <a:latin typeface="Avenir Next"/>
                <a:ea typeface="Avenir Next"/>
                <a:cs typeface="Avenir Next"/>
              </a:defRPr>
            </a:defPPr>
          </a:lstStyle>
          <a:p xmlns:a="http://schemas.openxmlformats.org/drawingml/2006/main">
            <a:pPr>
              <a:buNone/>
              <a:defRPr sz="2325" b="1">
                <a:solidFill>
                  <a:srgbClr val="7445FF"/>
                </a:solidFill>
                <a:latin typeface="Avenir Next"/>
                <a:ea typeface="Avenir Next"/>
                <a:cs typeface="Avenir Next"/>
              </a:defRPr>
            </a:pPr>
            <a:r>
              <a:rPr sz="2325" b="1">
                <a:solidFill>
                  <a:srgbClr val="7445FF"/>
                </a:solidFill>
                <a:latin typeface="Avenir Next"/>
                <a:ea typeface="Avenir Next"/>
                <a:cs typeface="Avenir Next"/>
              </a:rPr>
              <a:t>Optional help, in plain English</a:t>
            </a:r>
          </a:p>
        </p:txBody>
      </p:sp>
      <p:sp>
        <p:nvSpPr>
          <p:cNvPr id="6" name="Company context and risks when you need them">
            <a:extLst xmlns:a="http://schemas.openxmlformats.org/drawingml/2006/main">
              <a:ext uri="{FF2B5EF4-FFF2-40B4-BE49-F238E27FC236}">
                <a16:creationId xmlns:a16="http://schemas.microsoft.com/office/drawing/2014/main" id="{930B037D-2129-431E-A552-D09DC6E4C749}"/>
              </a:ext>
            </a:extLst>
          </p:cNvPr>
          <p:cNvSpPr>
            <a:spLocks xmlns:a="http://schemas.openxmlformats.org/drawingml/2006/main" noGrp="1"/>
          </p:cNvSpPr>
          <p:nvPr/>
        </p:nvSpPr>
        <p:spPr>
          <a:xfrm xmlns:a="http://schemas.openxmlformats.org/drawingml/2006/main">
            <a:off x="5781675" y="5610225"/>
            <a:ext cx="577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241634"/>
                </a:solidFill>
                <a:latin typeface="Avenir Next"/>
                <a:ea typeface="Avenir Next"/>
                <a:cs typeface="Avenir Next"/>
              </a:defRPr>
            </a:defPPr>
          </a:lstStyle>
          <a:p xmlns:a="http://schemas.openxmlformats.org/drawingml/2006/main">
            <a:pPr>
              <a:buNone/>
              <a:defRPr sz="1800" b="0">
                <a:solidFill>
                  <a:srgbClr val="241634"/>
                </a:solidFill>
                <a:latin typeface="Avenir Next"/>
                <a:ea typeface="Avenir Next"/>
                <a:cs typeface="Avenir Next"/>
              </a:defRPr>
            </a:pPr>
            <a:r>
              <a:rPr sz="1800" b="0">
                <a:solidFill>
                  <a:srgbClr val="241634"/>
                </a:solidFill>
                <a:latin typeface="Avenir Next"/>
                <a:ea typeface="Avenir Next"/>
                <a:cs typeface="Avenir Next"/>
              </a:rPr>
              <a:t>Company context and risks when you need them</a:t>
            </a:r>
          </a:p>
        </p:txBody>
      </p:sp>
      <p:sp>
        <p:nvSpPr>
          <p:cNvPr id="7" name="Actual prototype. Fictional bonds and simulated ">
            <a:extLst xmlns:a="http://schemas.openxmlformats.org/drawingml/2006/main">
              <a:ext uri="{FF2B5EF4-FFF2-40B4-BE49-F238E27FC236}">
                <a16:creationId xmlns:a16="http://schemas.microsoft.com/office/drawing/2014/main" id="{AFD81E21-D064-4C2E-A70A-8759A34948D9}"/>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Actual prototype. Fictional bonds and simulated assistant responses.</a:t>
            </a:r>
          </a:p>
        </p:txBody>
      </p:sp>
      <p:sp>
        <p:nvSpPr>
          <p:cNvPr id="8" name="06">
            <a:extLst xmlns:a="http://schemas.openxmlformats.org/drawingml/2006/main">
              <a:ext uri="{FF2B5EF4-FFF2-40B4-BE49-F238E27FC236}">
                <a16:creationId xmlns:a16="http://schemas.microsoft.com/office/drawing/2014/main" id="{F4856520-5A39-486B-910B-DECFFAE7BF6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06</a:t>
            </a:r>
          </a:p>
        </p:txBody>
      </p:sp>
    </p:spTree>
    <p:extLst>
      <p:ext uri="{BB962C8B-B14F-4D97-AF65-F5344CB8AC3E}">
        <p14:creationId xmlns:p14="http://schemas.microsoft.com/office/powerpoint/2010/main" val="1041281094"/>
      </p:ext>
    </p:extLst>
  </p:cSld>
</p:sld>
</file>

<file path=ppt/slides/slide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8" name="Small amount. Clear terms.">
            <a:extLst xmlns:a="http://schemas.openxmlformats.org/drawingml/2006/main">
              <a:ext uri="{FF2B5EF4-FFF2-40B4-BE49-F238E27FC236}">
                <a16:creationId xmlns:a16="http://schemas.microsoft.com/office/drawing/2014/main" id="{E7BC01FB-7273-4DB7-AF60-C33413DFC726}"/>
              </a:ext>
            </a:extLst>
          </p:cNvPr>
          <p:cNvSpPr>
            <a:spLocks xmlns:a="http://schemas.openxmlformats.org/drawingml/2006/main" noGrp="1"/>
          </p:cNvSpPr>
          <p:nvPr/>
        </p:nvSpPr>
        <p:spPr>
          <a:xfrm xmlns:a="http://schemas.openxmlformats.org/drawingml/2006/main">
            <a:off x="552450" y="53340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241634"/>
                </a:solidFill>
                <a:latin typeface="Avenir Next"/>
                <a:ea typeface="Avenir Next"/>
                <a:cs typeface="Avenir Next"/>
              </a:defRPr>
            </a:defPPr>
          </a:lstStyle>
          <a:p xmlns:a="http://schemas.openxmlformats.org/drawingml/2006/main">
            <a:pPr>
              <a:buNone/>
              <a:defRPr sz="4050" b="1">
                <a:solidFill>
                  <a:srgbClr val="241634"/>
                </a:solidFill>
                <a:latin typeface="Avenir Next"/>
                <a:ea typeface="Avenir Next"/>
                <a:cs typeface="Avenir Next"/>
              </a:defRPr>
            </a:pPr>
            <a:r>
              <a:rPr sz="4050" b="1">
                <a:solidFill>
                  <a:srgbClr val="241634"/>
                </a:solidFill>
                <a:latin typeface="Avenir Next"/>
                <a:ea typeface="Avenir Next"/>
                <a:cs typeface="Avenir Next"/>
              </a:rPr>
              <a:t>Small amount. Clear terms.</a:t>
            </a:r>
          </a:p>
        </p:txBody>
      </p:sp>
      <p:sp>
        <p:nvSpPr>
          <p:cNvPr id="2" name="$25">
            <a:extLst xmlns:a="http://schemas.openxmlformats.org/drawingml/2006/main">
              <a:ext uri="{FF2B5EF4-FFF2-40B4-BE49-F238E27FC236}">
                <a16:creationId xmlns:a16="http://schemas.microsoft.com/office/drawing/2014/main" id="{2266DBF8-1F04-467F-B1F3-7322ED3D07F6}"/>
              </a:ext>
            </a:extLst>
          </p:cNvPr>
          <p:cNvSpPr>
            <a:spLocks xmlns:a="http://schemas.openxmlformats.org/drawingml/2006/main" noGrp="1"/>
          </p:cNvSpPr>
          <p:nvPr/>
        </p:nvSpPr>
        <p:spPr>
          <a:xfrm xmlns:a="http://schemas.openxmlformats.org/drawingml/2006/main">
            <a:off x="504825" y="1790700"/>
            <a:ext cx="53625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100" b="1">
                <a:solidFill>
                  <a:srgbClr val="7445FF"/>
                </a:solidFill>
                <a:latin typeface="Avenir Next"/>
                <a:ea typeface="Avenir Next"/>
                <a:cs typeface="Avenir Next"/>
              </a:defRPr>
            </a:defPPr>
          </a:lstStyle>
          <a:p xmlns:a="http://schemas.openxmlformats.org/drawingml/2006/main">
            <a:pPr>
              <a:buNone/>
              <a:defRPr sz="11100" b="1">
                <a:solidFill>
                  <a:srgbClr val="7445FF"/>
                </a:solidFill>
                <a:latin typeface="Avenir Next"/>
                <a:ea typeface="Avenir Next"/>
                <a:cs typeface="Avenir Next"/>
              </a:defRPr>
            </a:pPr>
            <a:r>
              <a:rPr sz="11100" b="1">
                <a:solidFill>
                  <a:srgbClr val="7445FF"/>
                </a:solidFill>
                <a:latin typeface="Avenir Next"/>
                <a:ea typeface="Avenir Next"/>
                <a:cs typeface="Avenir Next"/>
              </a:rPr>
              <a:t>$25</a:t>
            </a:r>
          </a:p>
        </p:txBody>
      </p:sp>
      <p:sp>
        <p:nvSpPr>
          <p:cNvPr id="3" name="A first purchase&#10;can be small">
            <a:extLst xmlns:a="http://schemas.openxmlformats.org/drawingml/2006/main">
              <a:ext uri="{FF2B5EF4-FFF2-40B4-BE49-F238E27FC236}">
                <a16:creationId xmlns:a16="http://schemas.microsoft.com/office/drawing/2014/main" id="{0402E761-1942-4C70-9C2A-9E7F3B1D18C6}"/>
              </a:ext>
            </a:extLst>
          </p:cNvPr>
          <p:cNvSpPr>
            <a:spLocks xmlns:a="http://schemas.openxmlformats.org/drawingml/2006/main" noGrp="1"/>
          </p:cNvSpPr>
          <p:nvPr/>
        </p:nvSpPr>
        <p:spPr>
          <a:xfrm xmlns:a="http://schemas.openxmlformats.org/drawingml/2006/main">
            <a:off x="609600" y="3695700"/>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241634"/>
                </a:solidFill>
                <a:latin typeface="Avenir Next"/>
                <a:ea typeface="Avenir Next"/>
                <a:cs typeface="Avenir Next"/>
              </a:defRPr>
            </a:defPPr>
          </a:lstStyle>
          <a:p xmlns:a="http://schemas.openxmlformats.org/drawingml/2006/main">
            <a:pPr>
              <a:buNone/>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A first purchase</a:t>
            </a:r>
          </a:p>
          <a:p xmlns:a="http://schemas.openxmlformats.org/drawingml/2006/main">
            <a:pPr>
              <a:buNone/>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can be small</a:t>
            </a:r>
          </a:p>
        </p:txBody>
      </p:sp>
      <p:sp>
        <p:nvSpPr>
          <p:cNvPr id="4" name="Review the cost.&#10;See expected payments.&#10;Approve ">
            <a:extLst xmlns:a="http://schemas.openxmlformats.org/drawingml/2006/main">
              <a:ext uri="{FF2B5EF4-FFF2-40B4-BE49-F238E27FC236}">
                <a16:creationId xmlns:a16="http://schemas.microsoft.com/office/drawing/2014/main" id="{B3C4AAED-6636-4C2F-A23F-29B08E4D7495}"/>
              </a:ext>
            </a:extLst>
          </p:cNvPr>
          <p:cNvSpPr>
            <a:spLocks xmlns:a="http://schemas.openxmlformats.org/drawingml/2006/main" noGrp="1"/>
          </p:cNvSpPr>
          <p:nvPr/>
        </p:nvSpPr>
        <p:spPr>
          <a:xfrm xmlns:a="http://schemas.openxmlformats.org/drawingml/2006/main">
            <a:off x="619125" y="53054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786E82"/>
                </a:solidFill>
                <a:latin typeface="Avenir Next"/>
                <a:ea typeface="Avenir Next"/>
                <a:cs typeface="Avenir Next"/>
              </a:defRPr>
            </a:defPPr>
          </a:lstStyle>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Review the cost.</a:t>
            </a:r>
          </a:p>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See expected payments.</a:t>
            </a:r>
          </a:p>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Approve it yourself.</a:t>
            </a:r>
          </a:p>
        </p:txBody>
      </p:sp>
      <p:pic>
        <p:nvPicPr>
          <p:cNvPr id="5" name="">
            <a:extLst xmlns:a="http://schemas.openxmlformats.org/drawingml/2006/main">
              <a:ext uri="{FF2B5EF4-FFF2-40B4-BE49-F238E27FC236}">
                <a16:creationId xmlns:a16="http://schemas.microsoft.com/office/drawing/2014/main" id="{D4682285-BC03-400F-A27B-47CB57FC2F55}"/>
              </a:ext>
            </a:extLst>
          </p:cNvPr>
          <p:cNvPicPr>
            <a:picLocks xmlns:a="http://schemas.openxmlformats.org/drawingml/2006/main" noChangeAspect="1"/>
          </p:cNvPicPr>
          <p:nvPr/>
        </p:nvPicPr>
        <p:blipFill>
          <a:blip xmlns:r="http://schemas.openxmlformats.org/officeDocument/2006/relationships" xmlns:a="http://schemas.openxmlformats.org/drawingml/2006/main" r:embed="Rc9452b4f260d43a7"/>
          <a:stretch xmlns:a="http://schemas.openxmlformats.org/drawingml/2006/main"/>
        </p:blipFill>
        <p:spPr>
          <a:xfrm xmlns:a="http://schemas.openxmlformats.org/drawingml/2006/main">
            <a:off x="6493799" y="1590675"/>
            <a:ext cx="4843203" cy="4514850"/>
          </a:xfrm>
          <a:prstGeom xmlns:a="http://schemas.openxmlformats.org/drawingml/2006/main" prst="rect">
            <a:avLst/>
          </a:prstGeom>
        </p:spPr>
      </p:pic>
      <p:sp>
        <p:nvSpPr>
          <p:cNvPr id="6" name="$25 budget, $24.99 simulated cost. Expected paym">
            <a:extLst xmlns:a="http://schemas.openxmlformats.org/drawingml/2006/main">
              <a:ext uri="{FF2B5EF4-FFF2-40B4-BE49-F238E27FC236}">
                <a16:creationId xmlns:a16="http://schemas.microsoft.com/office/drawing/2014/main" id="{2D4D5DDF-4A85-489B-A6E5-EF5D1B64E6EC}"/>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$25 budget, $24.99 simulated cost. Expected payments depend on the issuer paying.</a:t>
            </a:r>
          </a:p>
        </p:txBody>
      </p:sp>
      <p:sp>
        <p:nvSpPr>
          <p:cNvPr id="7" name="07">
            <a:extLst xmlns:a="http://schemas.openxmlformats.org/drawingml/2006/main">
              <a:ext uri="{FF2B5EF4-FFF2-40B4-BE49-F238E27FC236}">
                <a16:creationId xmlns:a16="http://schemas.microsoft.com/office/drawing/2014/main" id="{20ED3D65-C6EE-4585-92C9-F2D433329C82}"/>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07</a:t>
            </a:r>
          </a:p>
        </p:txBody>
      </p:sp>
    </p:spTree>
    <p:extLst>
      <p:ext uri="{BB962C8B-B14F-4D97-AF65-F5344CB8AC3E}">
        <p14:creationId xmlns:p14="http://schemas.microsoft.com/office/powerpoint/2010/main" val="1421125594"/>
      </p:ext>
    </p:extLst>
  </p:cSld>
</p:sld>
</file>

<file path=ppt/slides/slide8.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9" name="Early traction">
            <a:extLst xmlns:a="http://schemas.openxmlformats.org/drawingml/2006/main">
              <a:ext uri="{FF2B5EF4-FFF2-40B4-BE49-F238E27FC236}">
                <a16:creationId xmlns:a16="http://schemas.microsoft.com/office/drawing/2014/main" id="{6737939E-D88E-488C-8F25-8075210C6313}"/>
              </a:ext>
            </a:extLst>
          </p:cNvPr>
          <p:cNvSpPr>
            <a:spLocks xmlns:a="http://schemas.openxmlformats.org/drawingml/2006/main" noGrp="1"/>
          </p:cNvSpPr>
          <p:nvPr/>
        </p:nvSpPr>
        <p:spPr>
          <a:xfrm xmlns:a="http://schemas.openxmlformats.org/drawingml/2006/main">
            <a:off x="552450" y="514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DF5"/>
                </a:solidFill>
                <a:latin typeface="Avenir Next"/>
                <a:ea typeface="Avenir Next"/>
                <a:cs typeface="Avenir Next"/>
              </a:defRPr>
            </a:defPPr>
          </a:lstStyle>
          <a:p xmlns:a="http://schemas.openxmlformats.org/drawingml/2006/main">
            <a:pPr>
              <a:buNone/>
              <a:defRPr sz="3675" b="1">
                <a:solidFill>
                  <a:srgbClr val="FFFDF5"/>
                </a:solidFill>
                <a:latin typeface="Avenir Next"/>
                <a:ea typeface="Avenir Next"/>
                <a:cs typeface="Avenir Next"/>
              </a:defRPr>
            </a:pPr>
            <a:r>
              <a:rPr sz="3675" b="1">
                <a:solidFill>
                  <a:srgbClr val="FFFDF5"/>
                </a:solidFill>
                <a:latin typeface="Avenir Next"/>
                <a:ea typeface="Avenir Next"/>
                <a:cs typeface="Avenir Next"/>
              </a:rPr>
              <a:t>Early traction</a:t>
            </a:r>
          </a:p>
        </p:txBody>
      </p:sp>
      <p:sp>
        <p:nvSpPr>
          <p:cNvPr id="2" name="10+">
            <a:extLst xmlns:a="http://schemas.openxmlformats.org/drawingml/2006/main">
              <a:ext uri="{FF2B5EF4-FFF2-40B4-BE49-F238E27FC236}">
                <a16:creationId xmlns:a16="http://schemas.microsoft.com/office/drawing/2014/main" id="{21246693-E1C7-47CF-BFAB-BB64B08BEADB}"/>
              </a:ext>
            </a:extLst>
          </p:cNvPr>
          <p:cNvSpPr>
            <a:spLocks xmlns:a="http://schemas.openxmlformats.org/drawingml/2006/main" noGrp="1"/>
          </p:cNvSpPr>
          <p:nvPr/>
        </p:nvSpPr>
        <p:spPr>
          <a:xfrm xmlns:a="http://schemas.openxmlformats.org/drawingml/2006/main">
            <a:off x="504825" y="173355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675" b="1">
                <a:solidFill>
                  <a:srgbClr val="D9FF66"/>
                </a:solidFill>
                <a:latin typeface="Avenir Next"/>
                <a:ea typeface="Avenir Next"/>
                <a:cs typeface="Avenir Next"/>
              </a:defRPr>
            </a:defPPr>
          </a:lstStyle>
          <a:p xmlns:a="http://schemas.openxmlformats.org/drawingml/2006/main">
            <a:pPr>
              <a:buNone/>
              <a:defRPr sz="12675" b="1">
                <a:solidFill>
                  <a:srgbClr val="D9FF66"/>
                </a:solidFill>
                <a:latin typeface="Avenir Next"/>
                <a:ea typeface="Avenir Next"/>
                <a:cs typeface="Avenir Next"/>
              </a:defRPr>
            </a:pPr>
            <a:r>
              <a:rPr sz="12675" b="1">
                <a:solidFill>
                  <a:srgbClr val="D9FF66"/>
                </a:solidFill>
                <a:latin typeface="Avenir Next"/>
                <a:ea typeface="Avenir Next"/>
                <a:cs typeface="Avenir Next"/>
              </a:rPr>
              <a:t>10+</a:t>
            </a:r>
          </a:p>
        </p:txBody>
      </p:sp>
      <p:sp>
        <p:nvSpPr>
          <p:cNvPr id="3" name="Customer discovery&#10;conversations">
            <a:extLst xmlns:a="http://schemas.openxmlformats.org/drawingml/2006/main">
              <a:ext uri="{FF2B5EF4-FFF2-40B4-BE49-F238E27FC236}">
                <a16:creationId xmlns:a16="http://schemas.microsoft.com/office/drawing/2014/main" id="{7E8ADBE8-C45E-4C63-8A28-72417263AC6C}"/>
              </a:ext>
            </a:extLst>
          </p:cNvPr>
          <p:cNvSpPr>
            <a:spLocks xmlns:a="http://schemas.openxmlformats.org/drawingml/2006/main" noGrp="1"/>
          </p:cNvSpPr>
          <p:nvPr/>
        </p:nvSpPr>
        <p:spPr>
          <a:xfrm xmlns:a="http://schemas.openxmlformats.org/drawingml/2006/main">
            <a:off x="619125" y="3933825"/>
            <a:ext cx="4714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FFFDF5"/>
                </a:solidFill>
                <a:latin typeface="Avenir Next"/>
                <a:ea typeface="Avenir Next"/>
                <a:cs typeface="Avenir Next"/>
              </a:defRPr>
            </a:defPPr>
          </a:lstStyle>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Customer discovery</a:t>
            </a:r>
          </a:p>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conversations</a:t>
            </a:r>
          </a:p>
        </p:txBody>
      </p:sp>
      <p:sp>
        <p:nvSpPr>
          <p:cNvPr id="4" name="Feedback narrowed the product&#10;to a focused bond ">
            <a:extLst xmlns:a="http://schemas.openxmlformats.org/drawingml/2006/main">
              <a:ext uri="{FF2B5EF4-FFF2-40B4-BE49-F238E27FC236}">
                <a16:creationId xmlns:a16="http://schemas.microsoft.com/office/drawing/2014/main" id="{D5AA59B8-7429-4ACB-BB78-FCF99927CFE4}"/>
              </a:ext>
            </a:extLst>
          </p:cNvPr>
          <p:cNvSpPr>
            <a:spLocks xmlns:a="http://schemas.openxmlformats.org/drawingml/2006/main" noGrp="1"/>
          </p:cNvSpPr>
          <p:nvPr/>
        </p:nvSpPr>
        <p:spPr>
          <a:xfrm xmlns:a="http://schemas.openxmlformats.org/drawingml/2006/main">
            <a:off x="619125" y="5238750"/>
            <a:ext cx="47720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8BAD8"/>
                </a:solidFill>
                <a:latin typeface="Avenir Next"/>
                <a:ea typeface="Avenir Next"/>
                <a:cs typeface="Avenir Next"/>
              </a:defRPr>
            </a:defPPr>
          </a:lstStyle>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Feedback narrowed the product</a:t>
            </a:r>
          </a:p>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to a focused bond trading flow.</a:t>
            </a:r>
          </a:p>
        </p:txBody>
      </p:sp>
      <p:pic>
        <p:nvPicPr>
          <p:cNvPr id="5" name="">
            <a:extLst xmlns:a="http://schemas.openxmlformats.org/drawingml/2006/main">
              <a:ext uri="{FF2B5EF4-FFF2-40B4-BE49-F238E27FC236}">
                <a16:creationId xmlns:a16="http://schemas.microsoft.com/office/drawing/2014/main" id="{B611724A-EDBE-4F52-A5E7-AD620AFD5B06}"/>
              </a:ext>
            </a:extLst>
          </p:cNvPr>
          <p:cNvPicPr>
            <a:picLocks xmlns:a="http://schemas.openxmlformats.org/drawingml/2006/main" noChangeAspect="1"/>
          </p:cNvPicPr>
          <p:nvPr/>
        </p:nvPicPr>
        <p:blipFill>
          <a:blip xmlns:r="http://schemas.openxmlformats.org/officeDocument/2006/relationships" xmlns:a="http://schemas.openxmlformats.org/drawingml/2006/main" r:embed="R833fabc1425f4c88"/>
          <a:stretch xmlns:a="http://schemas.openxmlformats.org/drawingml/2006/main"/>
        </p:blipFill>
        <p:spPr>
          <a:xfrm xmlns:a="http://schemas.openxmlformats.org/drawingml/2006/main">
            <a:off x="5819775" y="1592478"/>
            <a:ext cx="5753100" cy="3854018"/>
          </a:xfrm>
          <a:prstGeom xmlns:a="http://schemas.openxmlformats.org/drawingml/2006/main" prst="rect">
            <a:avLst/>
          </a:prstGeom>
        </p:spPr>
      </p:pic>
      <p:sp>
        <p:nvSpPr>
          <p:cNvPr id="6" name="A working, end-to-end prototype">
            <a:extLst xmlns:a="http://schemas.openxmlformats.org/drawingml/2006/main">
              <a:ext uri="{FF2B5EF4-FFF2-40B4-BE49-F238E27FC236}">
                <a16:creationId xmlns:a16="http://schemas.microsoft.com/office/drawing/2014/main" id="{42D8C2DA-19FD-4432-84C4-BAAAFA46BFC2}"/>
              </a:ext>
            </a:extLst>
          </p:cNvPr>
          <p:cNvSpPr>
            <a:spLocks xmlns:a="http://schemas.openxmlformats.org/drawingml/2006/main" noGrp="1"/>
          </p:cNvSpPr>
          <p:nvPr/>
        </p:nvSpPr>
        <p:spPr>
          <a:xfrm xmlns:a="http://schemas.openxmlformats.org/drawingml/2006/main">
            <a:off x="5857875" y="5715000"/>
            <a:ext cx="5695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DF5"/>
                </a:solidFill>
                <a:latin typeface="Avenir Next"/>
                <a:ea typeface="Avenir Next"/>
                <a:cs typeface="Avenir Next"/>
              </a:defRPr>
            </a:defPPr>
          </a:lstStyle>
          <a:p xmlns:a="http://schemas.openxmlformats.org/drawingml/2006/main">
            <a:pPr>
              <a:buNone/>
              <a:defRPr sz="2175" b="1">
                <a:solidFill>
                  <a:srgbClr val="FFFDF5"/>
                </a:solidFill>
                <a:latin typeface="Avenir Next"/>
                <a:ea typeface="Avenir Next"/>
                <a:cs typeface="Avenir Next"/>
              </a:defRPr>
            </a:pPr>
            <a:r>
              <a:rPr sz="2175" b="1">
                <a:solidFill>
                  <a:srgbClr val="FFFDF5"/>
                </a:solidFill>
                <a:latin typeface="Avenir Next"/>
                <a:ea typeface="Avenir Next"/>
                <a:cs typeface="Avenir Next"/>
              </a:rPr>
              <a:t>A working, end-to-end prototype</a:t>
            </a:r>
          </a:p>
        </p:txBody>
      </p:sp>
      <p:sp>
        <p:nvSpPr>
          <p:cNvPr id="7" name="Founder-reported discovery count. Portfolio, con">
            <a:extLst xmlns:a="http://schemas.openxmlformats.org/drawingml/2006/main">
              <a:ext uri="{FF2B5EF4-FFF2-40B4-BE49-F238E27FC236}">
                <a16:creationId xmlns:a16="http://schemas.microsoft.com/office/drawing/2014/main" id="{6C00B028-0730-4CEF-841C-1414DCAA7E35}"/>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Founder-reported discovery count. Portfolio, connections and trades are simulated.</a:t>
            </a:r>
          </a:p>
        </p:txBody>
      </p:sp>
      <p:sp>
        <p:nvSpPr>
          <p:cNvPr id="8" name="08">
            <a:extLst xmlns:a="http://schemas.openxmlformats.org/drawingml/2006/main">
              <a:ext uri="{FF2B5EF4-FFF2-40B4-BE49-F238E27FC236}">
                <a16:creationId xmlns:a16="http://schemas.microsoft.com/office/drawing/2014/main" id="{15E4A8C4-4C8B-4E5F-8FA2-0A2AFF25903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08</a:t>
            </a:r>
          </a:p>
        </p:txBody>
      </p:sp>
    </p:spTree>
    <p:extLst>
      <p:ext uri="{BB962C8B-B14F-4D97-AF65-F5344CB8AC3E}">
        <p14:creationId xmlns:p14="http://schemas.microsoft.com/office/powerpoint/2010/main" val="213461964"/>
      </p:ext>
    </p:extLst>
  </p:cSld>
</p:sld>
</file>

<file path=ppt/slides/slide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3" name="The customer&#10;wishlist">
            <a:extLst xmlns:a="http://schemas.openxmlformats.org/drawingml/2006/main">
              <a:ext uri="{FF2B5EF4-FFF2-40B4-BE49-F238E27FC236}">
                <a16:creationId xmlns:a16="http://schemas.microsoft.com/office/drawing/2014/main" id="{0A52E755-6088-4A76-9F61-3A7A39CD83EE}"/>
              </a:ext>
            </a:extLst>
          </p:cNvPr>
          <p:cNvSpPr>
            <a:spLocks xmlns:a="http://schemas.openxmlformats.org/drawingml/2006/main" noGrp="1"/>
          </p:cNvSpPr>
          <p:nvPr/>
        </p:nvSpPr>
        <p:spPr>
          <a:xfrm xmlns:a="http://schemas.openxmlformats.org/drawingml/2006/main">
            <a:off x="552450" y="1571625"/>
            <a:ext cx="4000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241634"/>
                </a:solidFill>
                <a:latin typeface="Avenir Next"/>
                <a:ea typeface="Avenir Next"/>
                <a:cs typeface="Avenir Next"/>
              </a:defRPr>
            </a:defPPr>
          </a:lstStyle>
          <a:p xmlns:a="http://schemas.openxmlformats.org/drawingml/2006/main">
            <a:pPr>
              <a:buNone/>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The customer</a:t>
            </a:r>
          </a:p>
          <a:p xmlns:a="http://schemas.openxmlformats.org/drawingml/2006/main">
            <a:pPr>
              <a:buNone/>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wishlist</a:t>
            </a:r>
          </a:p>
        </p:txBody>
      </p:sp>
      <p:sp>
        <p:nvSpPr>
          <p:cNvPr id="2" name="Working hypotheses&#10;from discovery and&#10;mentor fee">
            <a:extLst xmlns:a="http://schemas.openxmlformats.org/drawingml/2006/main">
              <a:ext uri="{FF2B5EF4-FFF2-40B4-BE49-F238E27FC236}">
                <a16:creationId xmlns:a16="http://schemas.microsoft.com/office/drawing/2014/main" id="{A994F02F-88FA-4EB8-B74F-2C13B82A2760}"/>
              </a:ext>
            </a:extLst>
          </p:cNvPr>
          <p:cNvSpPr>
            <a:spLocks xmlns:a="http://schemas.openxmlformats.org/drawingml/2006/main" noGrp="1"/>
          </p:cNvSpPr>
          <p:nvPr/>
        </p:nvSpPr>
        <p:spPr>
          <a:xfrm xmlns:a="http://schemas.openxmlformats.org/drawingml/2006/main">
            <a:off x="600075" y="4029075"/>
            <a:ext cx="37052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786E82"/>
                </a:solidFill>
                <a:latin typeface="Avenir Next"/>
                <a:ea typeface="Avenir Next"/>
                <a:cs typeface="Avenir Next"/>
              </a:defRPr>
            </a:defPPr>
          </a:lstStyle>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Working hypotheses</a:t>
            </a:r>
          </a:p>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from discovery and</a:t>
            </a:r>
          </a:p>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mentor feedback</a:t>
            </a:r>
          </a:p>
        </p:txBody>
      </p:sp>
      <p:sp>
        <p:nvSpPr>
          <p:cNvPr id="3" name="Understand the choice">
            <a:extLst xmlns:a="http://schemas.openxmlformats.org/drawingml/2006/main">
              <a:ext uri="{FF2B5EF4-FFF2-40B4-BE49-F238E27FC236}">
                <a16:creationId xmlns:a16="http://schemas.microsoft.com/office/drawing/2014/main" id="{90A15CEA-EF07-45C7-974A-76639242F2CC}"/>
              </a:ext>
            </a:extLst>
          </p:cNvPr>
          <p:cNvSpPr>
            <a:spLocks xmlns:a="http://schemas.openxmlformats.org/drawingml/2006/main" noGrp="1"/>
          </p:cNvSpPr>
          <p:nvPr/>
        </p:nvSpPr>
        <p:spPr>
          <a:xfrm xmlns:a="http://schemas.openxmlformats.org/drawingml/2006/main">
            <a:off x="5334000" y="1562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7445FF"/>
                </a:solidFill>
                <a:latin typeface="Avenir Next"/>
                <a:ea typeface="Avenir Next"/>
                <a:cs typeface="Avenir Next"/>
              </a:defRPr>
            </a:defPPr>
          </a:lstStyle>
          <a:p xmlns:a="http://schemas.openxmlformats.org/drawingml/2006/main">
            <a:pPr>
              <a:buNone/>
              <a:defRPr sz="2550" b="1">
                <a:solidFill>
                  <a:srgbClr val="7445FF"/>
                </a:solidFill>
                <a:latin typeface="Avenir Next"/>
                <a:ea typeface="Avenir Next"/>
                <a:cs typeface="Avenir Next"/>
              </a:defRPr>
            </a:pPr>
            <a:r>
              <a:rPr sz="2550" b="1">
                <a:solidFill>
                  <a:srgbClr val="7445FF"/>
                </a:solidFill>
                <a:latin typeface="Avenir Next"/>
                <a:ea typeface="Avenir Next"/>
                <a:cs typeface="Avenir Next"/>
              </a:rPr>
              <a:t>Understand the choice</a:t>
            </a:r>
          </a:p>
        </p:txBody>
      </p:sp>
      <p:sp>
        <p:nvSpPr>
          <p:cNvPr id="4" name="Plain words and optional explanations">
            <a:extLst xmlns:a="http://schemas.openxmlformats.org/drawingml/2006/main">
              <a:ext uri="{FF2B5EF4-FFF2-40B4-BE49-F238E27FC236}">
                <a16:creationId xmlns:a16="http://schemas.microsoft.com/office/drawing/2014/main" id="{CD7352EA-FCBE-4FC7-A655-936E689FC12B}"/>
              </a:ext>
            </a:extLst>
          </p:cNvPr>
          <p:cNvSpPr>
            <a:spLocks xmlns:a="http://schemas.openxmlformats.org/drawingml/2006/main" noGrp="1"/>
          </p:cNvSpPr>
          <p:nvPr/>
        </p:nvSpPr>
        <p:spPr>
          <a:xfrm xmlns:a="http://schemas.openxmlformats.org/drawingml/2006/main">
            <a:off x="5353050" y="209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Plain words and optional explanations</a:t>
            </a:r>
          </a:p>
        </p:txBody>
      </p:sp>
      <p:sp>
        <p:nvSpPr>
          <p:cNvPr id="5" name="Begin with a small amount">
            <a:extLst xmlns:a="http://schemas.openxmlformats.org/drawingml/2006/main">
              <a:ext uri="{FF2B5EF4-FFF2-40B4-BE49-F238E27FC236}">
                <a16:creationId xmlns:a16="http://schemas.microsoft.com/office/drawing/2014/main" id="{5E48655A-93C9-4F7E-BAED-D96283BAD932}"/>
              </a:ext>
            </a:extLst>
          </p:cNvPr>
          <p:cNvSpPr>
            <a:spLocks xmlns:a="http://schemas.openxmlformats.org/drawingml/2006/main" noGrp="1"/>
          </p:cNvSpPr>
          <p:nvPr/>
        </p:nvSpPr>
        <p:spPr>
          <a:xfrm xmlns:a="http://schemas.openxmlformats.org/drawingml/2006/main">
            <a:off x="5334000" y="2705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Begin with a small amount</a:t>
            </a:r>
          </a:p>
        </p:txBody>
      </p:sp>
      <p:sp>
        <p:nvSpPr>
          <p:cNvPr id="6" name="Fractional purchases in the prototype">
            <a:extLst xmlns:a="http://schemas.openxmlformats.org/drawingml/2006/main">
              <a:ext uri="{FF2B5EF4-FFF2-40B4-BE49-F238E27FC236}">
                <a16:creationId xmlns:a16="http://schemas.microsoft.com/office/drawing/2014/main" id="{D2127FB3-9FFE-40EB-BFBB-9BB1E3998E7D}"/>
              </a:ext>
            </a:extLst>
          </p:cNvPr>
          <p:cNvSpPr>
            <a:spLocks xmlns:a="http://schemas.openxmlformats.org/drawingml/2006/main" noGrp="1"/>
          </p:cNvSpPr>
          <p:nvPr/>
        </p:nvSpPr>
        <p:spPr>
          <a:xfrm xmlns:a="http://schemas.openxmlformats.org/drawingml/2006/main">
            <a:off x="5353050" y="3238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Fractional purchases in the prototype</a:t>
            </a:r>
          </a:p>
        </p:txBody>
      </p:sp>
      <p:sp>
        <p:nvSpPr>
          <p:cNvPr id="7" name="See when money may arrive">
            <a:extLst xmlns:a="http://schemas.openxmlformats.org/drawingml/2006/main">
              <a:ext uri="{FF2B5EF4-FFF2-40B4-BE49-F238E27FC236}">
                <a16:creationId xmlns:a16="http://schemas.microsoft.com/office/drawing/2014/main" id="{18C84FA0-41E6-4A1B-9C5F-EE27F16F7574}"/>
              </a:ext>
            </a:extLst>
          </p:cNvPr>
          <p:cNvSpPr>
            <a:spLocks xmlns:a="http://schemas.openxmlformats.org/drawingml/2006/main" noGrp="1"/>
          </p:cNvSpPr>
          <p:nvPr/>
        </p:nvSpPr>
        <p:spPr>
          <a:xfrm xmlns:a="http://schemas.openxmlformats.org/drawingml/2006/main">
            <a:off x="5334000" y="3848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See when money may arrive</a:t>
            </a:r>
          </a:p>
        </p:txBody>
      </p:sp>
      <p:sp>
        <p:nvSpPr>
          <p:cNvPr id="8" name="Interest and repayment dates">
            <a:extLst xmlns:a="http://schemas.openxmlformats.org/drawingml/2006/main">
              <a:ext uri="{FF2B5EF4-FFF2-40B4-BE49-F238E27FC236}">
                <a16:creationId xmlns:a16="http://schemas.microsoft.com/office/drawing/2014/main" id="{C3637651-9E11-4B47-84CF-F7E1B271A7A0}"/>
              </a:ext>
            </a:extLst>
          </p:cNvPr>
          <p:cNvSpPr>
            <a:spLocks xmlns:a="http://schemas.openxmlformats.org/drawingml/2006/main" noGrp="1"/>
          </p:cNvSpPr>
          <p:nvPr/>
        </p:nvSpPr>
        <p:spPr>
          <a:xfrm xmlns:a="http://schemas.openxmlformats.org/drawingml/2006/main">
            <a:off x="5353050" y="4381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Interest and repayment dates</a:t>
            </a:r>
          </a:p>
        </p:txBody>
      </p:sp>
      <p:sp>
        <p:nvSpPr>
          <p:cNvPr id="9" name="Keep existing accounts visible">
            <a:extLst xmlns:a="http://schemas.openxmlformats.org/drawingml/2006/main">
              <a:ext uri="{FF2B5EF4-FFF2-40B4-BE49-F238E27FC236}">
                <a16:creationId xmlns:a16="http://schemas.microsoft.com/office/drawing/2014/main" id="{F44E72F4-0413-4858-B46C-6C184DFE541E}"/>
              </a:ext>
            </a:extLst>
          </p:cNvPr>
          <p:cNvSpPr>
            <a:spLocks xmlns:a="http://schemas.openxmlformats.org/drawingml/2006/main" noGrp="1"/>
          </p:cNvSpPr>
          <p:nvPr/>
        </p:nvSpPr>
        <p:spPr>
          <a:xfrm xmlns:a="http://schemas.openxmlformats.org/drawingml/2006/main">
            <a:off x="5334000" y="4991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Keep existing accounts visible</a:t>
            </a:r>
          </a:p>
        </p:txBody>
      </p:sp>
      <p:sp>
        <p:nvSpPr>
          <p:cNvPr id="10" name="Account connections to test next">
            <a:extLst xmlns:a="http://schemas.openxmlformats.org/drawingml/2006/main">
              <a:ext uri="{FF2B5EF4-FFF2-40B4-BE49-F238E27FC236}">
                <a16:creationId xmlns:a16="http://schemas.microsoft.com/office/drawing/2014/main" id="{51387521-0A83-4062-835F-BD8F4BBAEA6C}"/>
              </a:ext>
            </a:extLst>
          </p:cNvPr>
          <p:cNvSpPr>
            <a:spLocks xmlns:a="http://schemas.openxmlformats.org/drawingml/2006/main" noGrp="1"/>
          </p:cNvSpPr>
          <p:nvPr/>
        </p:nvSpPr>
        <p:spPr>
          <a:xfrm xmlns:a="http://schemas.openxmlformats.org/drawingml/2006/main">
            <a:off x="5353050" y="552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Account connections to test next</a:t>
            </a:r>
          </a:p>
        </p:txBody>
      </p:sp>
      <p:sp>
        <p:nvSpPr>
          <p:cNvPr id="11" name="Wishlist priorities still need testing. This sli">
            <a:extLst xmlns:a="http://schemas.openxmlformats.org/drawingml/2006/main">
              <a:ext uri="{FF2B5EF4-FFF2-40B4-BE49-F238E27FC236}">
                <a16:creationId xmlns:a16="http://schemas.microsoft.com/office/drawing/2014/main" id="{5A69F1B1-4D30-442D-9403-6FC148D152C0}"/>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Wishlist priorities still need testing. This slide does not claim waitlist signups.</a:t>
            </a:r>
          </a:p>
        </p:txBody>
      </p:sp>
      <p:sp>
        <p:nvSpPr>
          <p:cNvPr id="12" name="09">
            <a:extLst xmlns:a="http://schemas.openxmlformats.org/drawingml/2006/main">
              <a:ext uri="{FF2B5EF4-FFF2-40B4-BE49-F238E27FC236}">
                <a16:creationId xmlns:a16="http://schemas.microsoft.com/office/drawing/2014/main" id="{80CBC9E7-5DF1-4F26-B237-E3155CEC7B61}"/>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09</a:t>
            </a:r>
          </a:p>
        </p:txBody>
      </p:sp>
    </p:spTree>
    <p:extLst>
      <p:ext uri="{BB962C8B-B14F-4D97-AF65-F5344CB8AC3E}">
        <p14:creationId xmlns:p14="http://schemas.microsoft.com/office/powerpoint/2010/main" val="1141107255"/>
      </p:ext>
    </p:extLst>
  </p:cSld>
</p:sld>
</file>

<file path=ppt/slides/slide10.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B54C603-50BE-4849-BC6D-50AC78EAF37D}"/>
              </a:ext>
            </a:extLst>
          </p:cNvPr>
          <p:cNvPicPr>
            <a:picLocks xmlns:a="http://schemas.openxmlformats.org/drawingml/2006/main" noChangeAspect="1"/>
          </p:cNvPicPr>
          <p:nvPr/>
        </p:nvPicPr>
        <p:blipFill>
          <a:blip xmlns:r="http://schemas.openxmlformats.org/officeDocument/2006/relationships" xmlns:a="http://schemas.openxmlformats.org/drawingml/2006/main" r:embed="R02e4779e605c49d5"/>
          <a:stretch xmlns:a="http://schemas.openxmlformats.org/drawingml/2006/main"/>
        </p:blipFill>
        <p:spPr>
          <a:xfrm xmlns:a="http://schemas.openxmlformats.org/drawingml/2006/main">
            <a:off x="566065" y="457200"/>
            <a:ext cx="2658819" cy="619125"/>
          </a:xfrm>
          <a:prstGeom xmlns:a="http://schemas.openxmlformats.org/drawingml/2006/main" prst="rect">
            <a:avLst/>
          </a:prstGeom>
        </p:spPr>
      </p:pic>
      <p:sp>
        <p:nvSpPr>
          <p:cNvPr id="2" name="Next comes&#10;real people.">
            <a:extLst xmlns:a="http://schemas.openxmlformats.org/drawingml/2006/main">
              <a:ext uri="{FF2B5EF4-FFF2-40B4-BE49-F238E27FC236}">
                <a16:creationId xmlns:a16="http://schemas.microsoft.com/office/drawing/2014/main" id="{76D08187-F04C-4A68-BDFB-05C8986B639D}"/>
              </a:ext>
            </a:extLst>
          </p:cNvPr>
          <p:cNvSpPr>
            <a:spLocks xmlns:a="http://schemas.openxmlformats.org/drawingml/2006/main" noGrp="1"/>
          </p:cNvSpPr>
          <p:nvPr/>
        </p:nvSpPr>
        <p:spPr>
          <a:xfrm xmlns:a="http://schemas.openxmlformats.org/drawingml/2006/main">
            <a:off x="552450" y="1905000"/>
            <a:ext cx="7620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FFFFFF"/>
                </a:solidFill>
                <a:latin typeface="Avenir Next"/>
                <a:ea typeface="Avenir Next"/>
                <a:cs typeface="Avenir Next"/>
              </a:defRPr>
            </a:defPPr>
          </a:lstStyle>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Next comes</a:t>
            </a:r>
          </a:p>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real people.</a:t>
            </a:r>
          </a:p>
        </p:txBody>
      </p:sp>
      <p:sp>
        <p:nvSpPr>
          <p:cNvPr id="3" name="10 unassisted tests">
            <a:extLst xmlns:a="http://schemas.openxmlformats.org/drawingml/2006/main">
              <a:ext uri="{FF2B5EF4-FFF2-40B4-BE49-F238E27FC236}">
                <a16:creationId xmlns:a16="http://schemas.microsoft.com/office/drawing/2014/main" id="{B1FFC9B6-74F9-4DFC-844B-D161047BA56E}"/>
              </a:ext>
            </a:extLst>
          </p:cNvPr>
          <p:cNvSpPr>
            <a:spLocks xmlns:a="http://schemas.openxmlformats.org/drawingml/2006/main" noGrp="1"/>
          </p:cNvSpPr>
          <p:nvPr/>
        </p:nvSpPr>
        <p:spPr>
          <a:xfrm xmlns:a="http://schemas.openxmlformats.org/drawingml/2006/main">
            <a:off x="590550" y="4467225"/>
            <a:ext cx="609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9FF66"/>
                </a:solidFill>
                <a:latin typeface="Avenir Next"/>
                <a:ea typeface="Avenir Next"/>
                <a:cs typeface="Avenir Next"/>
              </a:defRPr>
            </a:defPPr>
          </a:lstStyle>
          <a:p xmlns:a="http://schemas.openxmlformats.org/drawingml/2006/main">
            <a:pPr>
              <a:buNone/>
              <a:defRPr sz="2550" b="1">
                <a:solidFill>
                  <a:srgbClr val="D9FF66"/>
                </a:solidFill>
                <a:latin typeface="Avenir Next"/>
                <a:ea typeface="Avenir Next"/>
                <a:cs typeface="Avenir Next"/>
              </a:defRPr>
            </a:pPr>
            <a:r>
              <a:rPr sz="2550" b="1">
                <a:solidFill>
                  <a:srgbClr val="D9FF66"/>
                </a:solidFill>
                <a:latin typeface="Avenir Next"/>
                <a:ea typeface="Avenir Next"/>
                <a:cs typeface="Avenir Next"/>
              </a:rPr>
              <a:t>10 unassisted tests</a:t>
            </a:r>
          </a:p>
        </p:txBody>
      </p:sp>
      <p:sp>
        <p:nvSpPr>
          <p:cNvPr id="4" name="Can beginners explain the cost,&#10;payment timing a">
            <a:extLst xmlns:a="http://schemas.openxmlformats.org/drawingml/2006/main">
              <a:ext uri="{FF2B5EF4-FFF2-40B4-BE49-F238E27FC236}">
                <a16:creationId xmlns:a16="http://schemas.microsoft.com/office/drawing/2014/main" id="{D002F28F-CDF9-4825-B30F-80086FFAB53A}"/>
              </a:ext>
            </a:extLst>
          </p:cNvPr>
          <p:cNvSpPr>
            <a:spLocks xmlns:a="http://schemas.openxmlformats.org/drawingml/2006/main" noGrp="1"/>
          </p:cNvSpPr>
          <p:nvPr/>
        </p:nvSpPr>
        <p:spPr>
          <a:xfrm xmlns:a="http://schemas.openxmlformats.org/drawingml/2006/main">
            <a:off x="609600" y="5057775"/>
            <a:ext cx="644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Avenir Next"/>
                <a:ea typeface="Avenir Next"/>
                <a:cs typeface="Avenir Next"/>
              </a:defRPr>
            </a:defPPr>
          </a:lstStyle>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Can beginners explain the cost,</a:t>
            </a:r>
          </a:p>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payment timing and loss risk?</a:t>
            </a:r>
          </a:p>
        </p:txBody>
      </p:sp>
      <p:pic>
        <p:nvPicPr>
          <p:cNvPr id="5" name="">
            <a:extLst xmlns:a="http://schemas.openxmlformats.org/drawingml/2006/main">
              <a:ext uri="{FF2B5EF4-FFF2-40B4-BE49-F238E27FC236}">
                <a16:creationId xmlns:a16="http://schemas.microsoft.com/office/drawing/2014/main" id="{11CECF8B-25BB-4B6D-BF74-FB7784EDC90B}"/>
              </a:ext>
            </a:extLst>
          </p:cNvPr>
          <p:cNvPicPr>
            <a:picLocks xmlns:a="http://schemas.openxmlformats.org/drawingml/2006/main" noChangeAspect="1"/>
          </p:cNvPicPr>
          <p:nvPr/>
        </p:nvPicPr>
        <p:blipFill>
          <a:blip xmlns:r="http://schemas.openxmlformats.org/officeDocument/2006/relationships" xmlns:a="http://schemas.openxmlformats.org/drawingml/2006/main" r:embed="Rd2d0b5d5541d4d7f"/>
          <a:stretch xmlns:a="http://schemas.openxmlformats.org/drawingml/2006/main"/>
        </p:blipFill>
        <p:spPr>
          <a:xfrm xmlns:a="http://schemas.openxmlformats.org/drawingml/2006/main">
            <a:off x="8963025" y="1685925"/>
            <a:ext cx="2095500" cy="2095500"/>
          </a:xfrm>
          <a:prstGeom xmlns:a="http://schemas.openxmlformats.org/drawingml/2006/main" prst="rect">
            <a:avLst/>
          </a:prstGeom>
        </p:spPr>
      </p:pic>
      <p:sp>
        <p:nvSpPr>
          <p:cNvPr id="6" name="Seeking pilot participants&#10;and bond infrastructu">
            <a:extLst xmlns:a="http://schemas.openxmlformats.org/drawingml/2006/main">
              <a:ext uri="{FF2B5EF4-FFF2-40B4-BE49-F238E27FC236}">
                <a16:creationId xmlns:a16="http://schemas.microsoft.com/office/drawing/2014/main" id="{2E754AFD-3B8E-4082-907E-493738080E79}"/>
              </a:ext>
            </a:extLst>
          </p:cNvPr>
          <p:cNvSpPr>
            <a:spLocks xmlns:a="http://schemas.openxmlformats.org/drawingml/2006/main" noGrp="1"/>
          </p:cNvSpPr>
          <p:nvPr/>
        </p:nvSpPr>
        <p:spPr>
          <a:xfrm xmlns:a="http://schemas.openxmlformats.org/drawingml/2006/main">
            <a:off x="8353425" y="4514850"/>
            <a:ext cx="3333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FFFFFF"/>
                </a:solidFill>
                <a:latin typeface="Avenir Next"/>
                <a:ea typeface="Avenir Next"/>
                <a:cs typeface="Avenir Next"/>
              </a:defRPr>
            </a:defPPr>
          </a:lstStyle>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Seeking pilot participants</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and bond infrastructure</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introductions</a:t>
            </a:r>
          </a:p>
        </p:txBody>
      </p:sp>
      <p:sp>
        <p:nvSpPr>
          <p:cNvPr id="7" name="Next: measure opt-in interest, test pricing and ">
            <a:extLst xmlns:a="http://schemas.openxmlformats.org/drawingml/2006/main">
              <a:ext uri="{FF2B5EF4-FFF2-40B4-BE49-F238E27FC236}">
                <a16:creationId xmlns:a16="http://schemas.microsoft.com/office/drawing/2014/main" id="{7A8654B3-A357-4DDF-8327-DB074270F098}"/>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Next: measure opt-in interest, test pricing and explore execution partners.</a:t>
            </a:r>
          </a:p>
        </p:txBody>
      </p:sp>
      <p:sp>
        <p:nvSpPr>
          <p:cNvPr id="8" name="10">
            <a:extLst xmlns:a="http://schemas.openxmlformats.org/drawingml/2006/main">
              <a:ext uri="{FF2B5EF4-FFF2-40B4-BE49-F238E27FC236}">
                <a16:creationId xmlns:a16="http://schemas.microsoft.com/office/drawing/2014/main" id="{5A997ED1-479F-44A5-B5E3-9DCC78DD9045}"/>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10</a:t>
            </a:r>
          </a:p>
        </p:txBody>
      </p:sp>
    </p:spTree>
    <p:extLst>
      <p:ext uri="{BB962C8B-B14F-4D97-AF65-F5344CB8AC3E}">
        <p14:creationId xmlns:p14="http://schemas.microsoft.com/office/powerpoint/2010/main" val="596686294"/>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241634"/>
        </a:solidFill>
      </p:bgPr>
    </p:bg>
    <p:spTree>
      <p:nvGrpSpPr>
        <p:cNvPr id="1" name=""/>
        <p:cNvGrpSpPr/>
        <p:nvPr/>
      </p:nvGrpSpPr>
      <p:grpSpPr>
        <a:xfrm/>
      </p:grpSpPr>
      <p:pic>
        <p:nvPicPr>
          <p:cNvPr id="16" name="">
            <a:extLst>
              <a:ext uri="{FF2B5EF4-FFF2-40B4-BE49-F238E27FC236}">
                <ns2:creationId id="{CD5DC275-4989-4F3F-872A-187127100143}"/>
              </a:ext>
            </a:extLst>
          </p:cNvPr>
          <p:cNvPicPr>
            <a:picLocks noChangeAspect="1"/>
          </p:cNvPicPr>
          <p:nvPr/>
        </p:nvPicPr>
        <p:blipFill>
          <a:blip r:embed="R8c7e1f63b3364a70"/>
          <a:stretch/>
        </p:blipFill>
        <p:spPr>
          <a:xfrm>
            <a:off x="552450" y="343118"/>
            <a:ext cx="2247900" cy="523440"/>
          </a:xfrm>
          <a:prstGeom prst="rect">
            <a:avLst/>
          </a:prstGeom>
        </p:spPr>
      </p:pic>
      <p:sp>
        <p:nvSpPr>
          <p:cNvPr id="2" name="Contact our team">
            <a:extLst>
              <a:ext uri="{FF2B5EF4-FFF2-40B4-BE49-F238E27FC236}">
                <ns2:creationId id="{E79A5002-9022-4779-A2C3-8A11C2A9E753}"/>
              </a:ext>
            </a:extLst>
          </p:cNvPr>
          <p:cNvSpPr>
            <a:spLocks noGrp="1"/>
          </p:cNvSpPr>
          <p:nvPr/>
        </p:nvSpPr>
        <p:spPr>
          <a:xfrm>
            <a:off x="552450" y="1047750"/>
            <a:ext cx="11049000" cy="857250"/>
          </a:xfrm>
          <a:prstGeom prst="rect">
            <a:avLst/>
          </a:prstGeom>
          <a:noFill/>
          <a:ln w="0">
            <a:noFill/>
          </a:ln>
        </p:spPr>
        <p:txBody>
          <a:bodyPr lIns="0" tIns="0" rIns="0" bIns="0" anchor="t">
            <a:noAutofit/>
          </a:bodyPr>
          <a:lstStyle>
            <a:defPPr>
              <a:defRPr sz="4800" b="1" u="none">
                <a:solidFill>
                  <a:srgbClr val="FFFDF5"/>
                </a:solidFill>
                <a:latin typeface="Avenir Next"/>
                <a:ea typeface="Avenir Next"/>
                <a:cs typeface="Avenir Next"/>
              </a:defRPr>
            </a:defPPr>
          </a:lstStyle>
          <a:p>
            <a:pPr>
              <a:buNone/>
              <a:defRPr sz="4800" b="1" u="none">
                <a:solidFill>
                  <a:srgbClr val="FFFDF5"/>
                </a:solidFill>
                <a:latin typeface="Avenir Next"/>
                <a:ea typeface="Avenir Next"/>
                <a:cs typeface="Avenir Next"/>
              </a:defRPr>
            </a:pPr>
            <a:r>
              <a:rPr sz="4800" b="1" u="none">
                <a:solidFill>
                  <a:srgbClr val="FFFDF5"/>
                </a:solidFill>
                <a:latin typeface="Avenir Next"/>
                <a:ea typeface="Avenir Next"/>
                <a:cs typeface="Avenir Next"/>
              </a:rPr>
              <a:t>Contact our team</a:t>
            </a:r>
          </a:p>
        </p:txBody>
      </p:sp>
      <p:sp>
        <p:nvSpPr>
          <p:cNvPr id="3" name="Scan to connect on LinkedIn">
            <a:extLst>
              <a:ext uri="{FF2B5EF4-FFF2-40B4-BE49-F238E27FC236}">
                <ns2:creationId id="{7DEA54CB-0EE5-4E72-97A8-DFABE7F831AA}"/>
              </a:ext>
            </a:extLst>
          </p:cNvPr>
          <p:cNvSpPr>
            <a:spLocks noGrp="1"/>
          </p:cNvSpPr>
          <p:nvPr/>
        </p:nvSpPr>
        <p:spPr>
          <a:xfrm>
            <a:off x="590550" y="1943100"/>
            <a:ext cx="10477500" cy="419100"/>
          </a:xfrm>
          <a:prstGeom prst="rect">
            <a:avLst/>
          </a:prstGeom>
          <a:noFill/>
          <a:ln w="0">
            <a:noFill/>
          </a:ln>
        </p:spPr>
        <p:txBody>
          <a:bodyPr lIns="0" tIns="0" rIns="0" bIns="0" anchor="t">
            <a:noAutofit/>
          </a:bodyPr>
          <a:lstStyle>
            <a:defPPr>
              <a:defRPr sz="1725" b="0" u="none">
                <a:solidFill>
                  <a:srgbClr val="C5B8D3"/>
                </a:solidFill>
                <a:latin typeface="Avenir Next"/>
                <a:ea typeface="Avenir Next"/>
                <a:cs typeface="Avenir Next"/>
              </a:defRPr>
            </a:defPPr>
          </a:lstStyle>
          <a:p>
            <a:pPr>
              <a:buNone/>
              <a:defRPr sz="1725" b="0" u="none">
                <a:solidFill>
                  <a:srgbClr val="C5B8D3"/>
                </a:solidFill>
                <a:latin typeface="Avenir Next"/>
                <a:ea typeface="Avenir Next"/>
                <a:cs typeface="Avenir Next"/>
              </a:defRPr>
            </a:pPr>
            <a:r>
              <a:rPr sz="1725" b="0" u="none">
                <a:solidFill>
                  <a:srgbClr val="C5B8D3"/>
                </a:solidFill>
                <a:latin typeface="Avenir Next"/>
                <a:ea typeface="Avenir Next"/>
                <a:cs typeface="Avenir Next"/>
              </a:rPr>
              <a:t>Scan to connect on LinkedIn</a:t>
            </a:r>
          </a:p>
        </p:txBody>
      </p:sp>
      <p:sp>
        <p:nvSpPr>
          <p:cNvPr id="4" name="Ivy Pei">
            <a:extLst>
              <a:ext uri="{FF2B5EF4-FFF2-40B4-BE49-F238E27FC236}">
                <ns2:creationId id="{A921DB19-27AA-479D-8AAC-1B97866DD6B7}"/>
              </a:ext>
            </a:extLst>
          </p:cNvPr>
          <p:cNvSpPr>
            <a:spLocks noGrp="1"/>
          </p:cNvSpPr>
          <p:nvPr/>
        </p:nvSpPr>
        <p:spPr>
          <a:xfrm>
            <a:off x="590550" y="4857750"/>
            <a:ext cx="4381500" cy="438150"/>
          </a:xfrm>
          <a:prstGeom prst="rect">
            <a:avLst/>
          </a:prstGeom>
          <a:noFill/>
          <a:ln w="0">
            <a:noFill/>
          </a:ln>
        </p:spPr>
        <p:txBody>
          <a:bodyPr lIns="0" tIns="0" rIns="0" bIns="0" anchor="t">
            <a:noAutofit/>
          </a:bodyPr>
          <a:lstStyle>
            <a:defPPr>
              <a:defRPr sz="2400" b="1" u="none">
                <a:solidFill>
                  <a:srgbClr val="FFFDF5"/>
                </a:solidFill>
                <a:latin typeface="Avenir Next"/>
                <a:ea typeface="Avenir Next"/>
                <a:cs typeface="Avenir Next"/>
              </a:defRPr>
            </a:defPPr>
          </a:lstStyle>
          <a:p>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Ivy Pei</a:t>
            </a:r>
          </a:p>
        </p:txBody>
      </p:sp>
      <p:sp>
        <p:nvSpPr>
          <p:cNvPr id="5" name="Founder">
            <a:extLst>
              <a:ext uri="{FF2B5EF4-FFF2-40B4-BE49-F238E27FC236}">
                <ns2:creationId id="{BC19F54C-AC8C-45E7-8A28-E5D505CA8BB9}"/>
              </a:ext>
            </a:extLst>
          </p:cNvPr>
          <p:cNvSpPr>
            <a:spLocks noGrp="1"/>
          </p:cNvSpPr>
          <p:nvPr/>
        </p:nvSpPr>
        <p:spPr>
          <a:xfrm>
            <a:off x="590550" y="5257800"/>
            <a:ext cx="3810000" cy="333375"/>
          </a:xfrm>
          <a:prstGeom prst="rect">
            <a:avLst/>
          </a:prstGeom>
          <a:noFill/>
          <a:ln w="0">
            <a:noFill/>
          </a:ln>
        </p:spPr>
        <p:txBody>
          <a:bodyPr lIns="0" tIns="0" rIns="0" bIns="0" anchor="t">
            <a:noAutofit/>
          </a:bodyPr>
          <a:lstStyle>
            <a:defPPr>
              <a:defRPr sz="1650" b="0" u="none">
                <a:solidFill>
                  <a:srgbClr val="D9FF66"/>
                </a:solidFill>
                <a:latin typeface="Avenir Next"/>
                <a:ea typeface="Avenir Next"/>
                <a:cs typeface="Avenir Next"/>
              </a:defRPr>
            </a:defPPr>
          </a:lstStyle>
          <a:p>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Founder</a:t>
            </a:r>
          </a:p>
        </p:txBody>
      </p:sp>
      <p:pic>
        <p:nvPicPr>
          <p:cNvPr id="6" name="" descr="Ivy Pei LinkedIn QR code">
            <a:extLst>
              <a:ext uri="{FF2B5EF4-FFF2-40B4-BE49-F238E27FC236}">
                <ns2:creationId id="{6E1BB12F-C49C-4948-AF44-3562529BB86B}"/>
              </a:ext>
            </a:extLst>
          </p:cNvPr>
          <p:cNvPicPr>
            <a:picLocks noChangeAspect="1"/>
          </p:cNvPicPr>
          <p:nvPr/>
        </p:nvPicPr>
        <p:blipFill>
          <a:blip r:embed="R23c962f353ed4096"/>
          <a:stretch/>
        </p:blipFill>
        <p:spPr>
          <a:xfrm>
            <a:off x="3619500" y="2857500"/>
            <a:ext cx="1714500" cy="1714500"/>
          </a:xfrm>
          <a:prstGeom prst="rect">
            <a:avLst/>
          </a:prstGeom>
        </p:spPr>
      </p:pic>
      <p:sp>
        <p:nvSpPr>
          <p:cNvPr id="8" name="Ren Jie T.">
            <a:extLst>
              <a:ext uri="{FF2B5EF4-FFF2-40B4-BE49-F238E27FC236}">
                <ns2:creationId id="{245FD190-8529-4FBD-8219-A9413CD05AA2}"/>
              </a:ext>
            </a:extLst>
          </p:cNvPr>
          <p:cNvSpPr>
            <a:spLocks noGrp="1"/>
          </p:cNvSpPr>
          <p:nvPr/>
        </p:nvSpPr>
        <p:spPr>
          <a:xfrm>
            <a:off x="6534150" y="4857750"/>
            <a:ext cx="4381500" cy="438150"/>
          </a:xfrm>
          <a:prstGeom prst="rect">
            <a:avLst/>
          </a:prstGeom>
          <a:noFill/>
          <a:ln w="0">
            <a:noFill/>
          </a:ln>
        </p:spPr>
        <p:txBody>
          <a:bodyPr lIns="0" tIns="0" rIns="0" bIns="0" anchor="t">
            <a:noAutofit/>
          </a:bodyPr>
          <a:lstStyle>
            <a:defPPr>
              <a:defRPr sz="2400" b="1" u="none">
                <a:solidFill>
                  <a:srgbClr val="FFFDF5"/>
                </a:solidFill>
                <a:latin typeface="Avenir Next"/>
                <a:ea typeface="Avenir Next"/>
                <a:cs typeface="Avenir Next"/>
              </a:defRPr>
            </a:defPPr>
          </a:lstStyle>
          <a:p>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Ren Jie T.</a:t>
            </a:r>
          </a:p>
        </p:txBody>
      </p:sp>
      <p:sp>
        <p:nvSpPr>
          <p:cNvPr id="9" name="CTO">
            <a:extLst>
              <a:ext uri="{FF2B5EF4-FFF2-40B4-BE49-F238E27FC236}">
                <ns2:creationId id="{A68BA4D9-8A18-420C-83D6-503B59E7B186}"/>
              </a:ext>
            </a:extLst>
          </p:cNvPr>
          <p:cNvSpPr>
            <a:spLocks noGrp="1"/>
          </p:cNvSpPr>
          <p:nvPr/>
        </p:nvSpPr>
        <p:spPr>
          <a:xfrm>
            <a:off x="6534150" y="5257800"/>
            <a:ext cx="3810000" cy="333375"/>
          </a:xfrm>
          <a:prstGeom prst="rect">
            <a:avLst/>
          </a:prstGeom>
          <a:noFill/>
          <a:ln w="0">
            <a:noFill/>
          </a:ln>
        </p:spPr>
        <p:txBody>
          <a:bodyPr lIns="0" tIns="0" rIns="0" bIns="0" anchor="t">
            <a:noAutofit/>
          </a:bodyPr>
          <a:lstStyle>
            <a:defPPr>
              <a:defRPr sz="1650" b="0" u="none">
                <a:solidFill>
                  <a:srgbClr val="D9FF66"/>
                </a:solidFill>
                <a:latin typeface="Avenir Next"/>
                <a:ea typeface="Avenir Next"/>
                <a:cs typeface="Avenir Next"/>
              </a:defRPr>
            </a:defPPr>
          </a:lstStyle>
          <a:p>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CTO</a:t>
            </a:r>
          </a:p>
        </p:txBody>
      </p:sp>
      <p:pic>
        <p:nvPicPr>
          <p:cNvPr id="10" name="" descr="Ren Jie T. LinkedIn QR code">
            <a:extLst>
              <a:ext uri="{FF2B5EF4-FFF2-40B4-BE49-F238E27FC236}">
                <ns2:creationId id="{8CCD7F29-BCE0-48F6-B078-05AF4DE421C7}"/>
              </a:ext>
            </a:extLst>
          </p:cNvPr>
          <p:cNvPicPr>
            <a:picLocks noChangeAspect="1"/>
          </p:cNvPicPr>
          <p:nvPr/>
        </p:nvPicPr>
        <p:blipFill>
          <a:blip r:embed="R80c2a5f17f874371"/>
          <a:stretch/>
        </p:blipFill>
        <p:spPr>
          <a:xfrm>
            <a:off x="9563100" y="2857500"/>
            <a:ext cx="1714500" cy="1714500"/>
          </a:xfrm>
          <a:prstGeom prst="rect">
            <a:avLst/>
          </a:prstGeom>
        </p:spPr>
      </p:pic>
      <p:sp>
        <p:nvSpPr>
          <p:cNvPr id="12" name="Special thanks to">
            <a:extLst>
              <a:ext uri="{FF2B5EF4-FFF2-40B4-BE49-F238E27FC236}">
                <ns2:creationId id="{BF7C91D7-C955-48F3-AD94-ABD521E33290}"/>
              </a:ext>
            </a:extLst>
          </p:cNvPr>
          <p:cNvSpPr>
            <a:spLocks noGrp="1"/>
          </p:cNvSpPr>
          <p:nvPr/>
        </p:nvSpPr>
        <p:spPr>
          <a:xfrm>
            <a:off x="5124450" y="5781675"/>
            <a:ext cx="4762500" cy="257175"/>
          </a:xfrm>
          <a:prstGeom prst="rect">
            <a:avLst/>
          </a:prstGeom>
          <a:noFill/>
          <a:ln w="0">
            <a:noFill/>
          </a:ln>
        </p:spPr>
        <p:txBody>
          <a:bodyPr lIns="0" tIns="0" rIns="0" bIns="0" anchor="t">
            <a:noAutofit/>
          </a:bodyPr>
          <a:lstStyle>
            <a:defPPr>
              <a:defRPr sz="1275" b="0" u="none">
                <a:solidFill>
                  <a:srgbClr val="C5B8D3"/>
                </a:solidFill>
                <a:latin typeface="Avenir Next"/>
                <a:ea typeface="Avenir Next"/>
                <a:cs typeface="Avenir Next"/>
              </a:defRPr>
            </a:defPPr>
          </a:lstStyle>
          <a:p>
            <a:pPr>
              <a:buNone/>
              <a:defRPr sz="1275" b="0" u="none">
                <a:solidFill>
                  <a:srgbClr val="C5B8D3"/>
                </a:solidFill>
                <a:latin typeface="Avenir Next"/>
                <a:ea typeface="Avenir Next"/>
                <a:cs typeface="Avenir Next"/>
              </a:defRPr>
            </a:pPr>
            <a:r>
              <a:rPr sz="1275" b="0" u="none">
                <a:solidFill>
                  <a:srgbClr val="C5B8D3"/>
                </a:solidFill>
                <a:latin typeface="Avenir Next"/>
                <a:ea typeface="Avenir Next"/>
                <a:cs typeface="Avenir Next"/>
              </a:rPr>
              <a:t>Special thanks to</a:t>
            </a:r>
          </a:p>
        </p:txBody>
      </p:sp>
      <p:sp>
        <p:nvSpPr>
          <p:cNvPr id="13" name="Pink Pan">
            <a:extLst>
              <a:ext uri="{FF2B5EF4-FFF2-40B4-BE49-F238E27FC236}">
                <ns2:creationId id="{E7D9A861-B045-42E2-9636-31FCB56CE523}"/>
              </a:ext>
            </a:extLst>
          </p:cNvPr>
          <p:cNvSpPr>
            <a:spLocks noGrp="1"/>
          </p:cNvSpPr>
          <p:nvPr/>
        </p:nvSpPr>
        <p:spPr>
          <a:xfrm>
            <a:off x="5124450" y="6029325"/>
            <a:ext cx="1905000" cy="381000"/>
          </a:xfrm>
          <a:prstGeom prst="rect">
            <a:avLst/>
          </a:prstGeom>
          <a:noFill/>
          <a:ln w="0">
            <a:noFill/>
          </a:ln>
        </p:spPr>
        <p:txBody>
          <a:bodyPr lIns="0" tIns="0" rIns="0" bIns="0" anchor="t">
            <a:noAutofit/>
          </a:bodyPr>
          <a:lstStyle>
            <a:defPPr>
              <a:defRPr sz="2025" b="1" u="none">
                <a:solidFill>
                  <a:srgbClr val="FFFDF5"/>
                </a:solidFill>
                <a:latin typeface="Avenir Next"/>
                <a:ea typeface="Avenir Next"/>
                <a:cs typeface="Avenir Next"/>
              </a:defRPr>
            </a:defPPr>
          </a:lstStyle>
          <a:p>
            <a:pPr>
              <a:buNone/>
              <a:defRPr sz="2025" b="1" u="none">
                <a:solidFill>
                  <a:srgbClr val="FFFDF5"/>
                </a:solidFill>
                <a:latin typeface="Avenir Next"/>
                <a:ea typeface="Avenir Next"/>
                <a:cs typeface="Avenir Next"/>
              </a:defRPr>
            </a:pPr>
            <a:r>
              <a:rPr sz="2025" b="1" u="none">
                <a:solidFill>
                  <a:srgbClr val="FFFDF5"/>
                </a:solidFill>
                <a:latin typeface="Avenir Next"/>
                <a:ea typeface="Avenir Next"/>
                <a:cs typeface="Avenir Next"/>
              </a:rPr>
              <a:t>Pink Pan</a:t>
            </a:r>
          </a:p>
        </p:txBody>
      </p:sp>
      <p:sp>
        <p:nvSpPr>
          <p:cNvPr id="14" name="(Mentor)">
            <a:extLst>
              <a:ext uri="{FF2B5EF4-FFF2-40B4-BE49-F238E27FC236}">
                <ns2:creationId id="{1A0FCE8C-6896-4817-BE54-E2E4694A3EE4}"/>
              </a:ext>
            </a:extLst>
          </p:cNvPr>
          <p:cNvSpPr>
            <a:spLocks noGrp="1"/>
          </p:cNvSpPr>
          <p:nvPr/>
        </p:nvSpPr>
        <p:spPr>
          <a:xfrm>
            <a:off x="6477000" y="6105525"/>
            <a:ext cx="1619250" cy="266700"/>
          </a:xfrm>
          <a:prstGeom prst="rect">
            <a:avLst/>
          </a:prstGeom>
          <a:noFill/>
          <a:ln w="0">
            <a:noFill/>
          </a:ln>
        </p:spPr>
        <p:txBody>
          <a:bodyPr lIns="0" tIns="0" rIns="0" bIns="0" anchor="t">
            <a:noAutofit/>
          </a:bodyPr>
          <a:lstStyle>
            <a:defPPr>
              <a:defRPr sz="1425" b="0" u="none">
                <a:solidFill>
                  <a:srgbClr val="D9FF66"/>
                </a:solidFill>
                <a:latin typeface="Avenir Next"/>
                <a:ea typeface="Avenir Next"/>
                <a:cs typeface="Avenir Next"/>
              </a:defRPr>
            </a:defPPr>
          </a:lstStyle>
          <a:p>
            <a:pPr>
              <a:buNone/>
              <a:defRPr sz="1425" b="0" u="none">
                <a:solidFill>
                  <a:srgbClr val="D9FF66"/>
                </a:solidFill>
                <a:latin typeface="Avenir Next"/>
                <a:ea typeface="Avenir Next"/>
                <a:cs typeface="Avenir Next"/>
              </a:defRPr>
            </a:pPr>
            <a:r>
              <a:rPr sz="1425" b="0" u="none">
                <a:solidFill>
                  <a:srgbClr val="D9FF66"/>
                </a:solidFill>
                <a:latin typeface="Avenir Next"/>
                <a:ea typeface="Avenir Next"/>
                <a:cs typeface="Avenir Next"/>
              </a:rPr>
              <a:t>· Mentor</a:t>
            </a:r>
          </a:p>
        </p:txBody>
      </p:sp>
      <p:pic>
        <p:nvPicPr>
          <p:cNvPr id="17" name="" descr="Ivy Pei, Founder portrait">
            <a:extLst>
              <a:ext uri="{FF2B5EF4-FFF2-40B4-BE49-F238E27FC236}">
                <ns2:creationId id="{8C5F238E-CB46-4144-8F82-7283EEB76D04}"/>
              </a:ext>
            </a:extLst>
          </p:cNvPr>
          <p:cNvPicPr>
            <a:picLocks noChangeAspect="1"/>
          </p:cNvPicPr>
          <p:nvPr/>
        </p:nvPicPr>
        <p:blipFill>
          <a:blip r:embed="Re2c81a020c0b4cfa"/>
          <a:srcRect l="8000" t="0" r="8000" b="16000"/>
          <a:stretch/>
        </p:blipFill>
        <p:spPr>
          <a:xfrm>
            <a:off x="590550" y="2647950"/>
            <a:ext cx="2095500" cy="2095500"/>
          </a:xfrm>
          <a:prstGeom prst="ellipse">
            <a:avLst/>
          </a:prstGeom>
        </p:spPr>
      </p:pic>
      <p:pic>
        <p:nvPicPr>
          <p:cNvPr id="18" name="" descr="Ren Jie T., CTO portrait">
            <a:extLst>
              <a:ext uri="{FF2B5EF4-FFF2-40B4-BE49-F238E27FC236}">
                <ns2:creationId id="{4B247299-EF57-43EF-B7BD-BD4B157CF651}"/>
              </a:ext>
            </a:extLst>
          </p:cNvPr>
          <p:cNvPicPr>
            <a:picLocks noChangeAspect="1"/>
          </p:cNvPicPr>
          <p:nvPr/>
        </p:nvPicPr>
        <p:blipFill>
          <a:blip r:embed="Ra54771dbaef74156"/>
          <a:srcRect l="16000" t="10000" r="21500" b="27500"/>
          <a:stretch/>
        </p:blipFill>
        <p:spPr>
          <a:xfrm>
            <a:off x="6534150" y="2647950"/>
            <a:ext cx="2095500" cy="2095500"/>
          </a:xfrm>
          <a:prstGeom prst="ellipse">
            <a:avLst/>
          </a:prstGeom>
        </p:spPr>
      </p:pic>
      <p:pic>
        <p:nvPicPr>
          <p:cNvPr id="19" name="" descr="Pink Pan, Mentor portrait">
            <a:extLst>
              <a:ext uri="{FF2B5EF4-FFF2-40B4-BE49-F238E27FC236}">
                <ns2:creationId id="{5D78AD55-8EDD-46C6-BE96-DEC7DEFD1EBD}"/>
              </a:ext>
            </a:extLst>
          </p:cNvPr>
          <p:cNvPicPr>
            <a:picLocks noChangeAspect="1"/>
          </p:cNvPicPr>
          <p:nvPr/>
        </p:nvPicPr>
        <p:blipFill>
          <a:blip r:embed="R0c631987e9fd47ed"/>
          <a:srcRect l="0" t="0" r="0" b="0"/>
          <a:stretch/>
        </p:blipFill>
        <p:spPr>
          <a:xfrm>
            <a:off x="4267200" y="5791200"/>
            <a:ext cx="685800" cy="685800"/>
          </a:xfrm>
          <a:prstGeom prst="ellipse">
            <a:avLst/>
          </a:prstGeom>
        </p:spPr>
      </p:pic>
    </p:spTree>
    <p:extLst>
      <p:ext uri="{BB962C8B-B14F-4D97-AF65-F5344CB8AC3E}">
        <ns4:creationId val="83929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2026-10-11T05:35:16.8400000Z</dcterms:created>
  <dcterms:modified xsi:type="dcterms:W3CDTF">2026-10-11T05:35:16.8400000Z</dcterms:modified>
</coreProperties>
</file>